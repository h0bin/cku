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07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5BBB5-7AF6-753E-FE38-1B44E4141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387ADB-BDFF-440B-0A0B-096CB0432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8C03D0-0D97-90AC-FEDD-851A9066E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D962-3890-4585-9340-345F53AD322E}" type="datetimeFigureOut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B6407E-9615-5E1C-C5A2-D33B6F24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1014C6-749E-D747-895F-DD2172A0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E477-6EE6-48EC-A7E4-4D911BDB4A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81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5DB1C-CA7E-CF04-6E36-FE2540554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AD16FD-E6E4-CD90-A5CF-7504B64FE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30F7D0-1545-19F2-A673-F9BC70FA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D962-3890-4585-9340-345F53AD322E}" type="datetimeFigureOut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43FEAA-8AA0-2BA0-DAB7-B7F85226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FFB2E4-044E-614B-0817-06B970123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E477-6EE6-48EC-A7E4-4D911BDB4A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104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C83708-1297-76EB-B882-9F12119C1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C5E4C4-8E69-A2B6-B20B-9B373C495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0FF5FA-A1CF-2CBC-6DDA-E6EF923E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D962-3890-4585-9340-345F53AD322E}" type="datetimeFigureOut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3278AF-7297-0619-4EC2-BA9ACAB7B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A29147-3E4D-DF78-72C4-07E8693F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E477-6EE6-48EC-A7E4-4D911BDB4A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73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C3804-7CF7-1C65-2845-8F8194BDE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64E646-D9DD-9168-A4DD-2601C08C9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ECD876-A448-8119-5A08-45ED81F51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23EB82-4004-5F5C-99B4-5DC9EA3BD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D962-3890-4585-9340-345F53AD322E}" type="datetimeFigureOut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C3EB33-54A4-DFEA-B920-6C751799C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79A96F-33A7-282F-4159-65F59444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E477-6EE6-48EC-A7E4-4D911BDB4A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24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F01BD-98CC-03F1-9AFC-97232524B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4E2C05-8703-73D0-47DE-14B3E85C9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34F93D-2809-AD4F-8102-659784DCA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5128E1-7841-0C57-7219-2AFC3D747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444A6B-1315-8B22-C903-25C8C6D50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7EDFD7C-FC7A-FF76-01D2-41C674DCC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D962-3890-4585-9340-345F53AD322E}" type="datetimeFigureOut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19817F-158B-DA9B-B4F2-E3263685C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96B0CA-F914-09A5-17DF-FB7D9E5CA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E477-6EE6-48EC-A7E4-4D911BDB4A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961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D34A6-E3AC-A745-1C41-C46F923CA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47A78F-3018-B9B6-5906-1BF593A0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D962-3890-4585-9340-345F53AD322E}" type="datetimeFigureOut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710F06-0C49-CD73-3A57-89A276DB3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908E89-A4EC-EB3B-D6E2-EA56B735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E477-6EE6-48EC-A7E4-4D911BDB4A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449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850BD1-3B7D-5CC8-78D7-F8C641AE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D962-3890-4585-9340-345F53AD322E}" type="datetimeFigureOut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C8B5A0-9F24-4342-727C-43068264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7BE75D-40C2-3B64-A549-5477A5A5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E477-6EE6-48EC-A7E4-4D911BDB4A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424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F539D-8A4B-A89E-C9AE-C7BA7FE17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0FBD15-1D88-55DB-F88A-2C7BD14AF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193823-FB11-059D-EAF5-AB777581C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9D547E-9D5D-AE2C-C532-4A8C44E99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D962-3890-4585-9340-345F53AD322E}" type="datetimeFigureOut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33EF84-D5E3-D3FD-585C-B34E8272E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41FE2C-817C-7AF5-F8ED-73C8FCBE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E477-6EE6-48EC-A7E4-4D911BDB4A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670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48CB8-687B-2834-3F13-A21FA254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AF6BF3-50F2-5F17-EBBC-6C94C9C42B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39EFEA-CFF9-44D8-941E-D6A752BCF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19E5D8-4258-87C8-ECC6-3052B232F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D962-3890-4585-9340-345F53AD322E}" type="datetimeFigureOut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76DE14-0888-1D04-B78D-938FC0A0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C97A23-F715-5200-8E92-956BA18C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E477-6EE6-48EC-A7E4-4D911BDB4A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3B93B-E559-F300-3FA2-018586B1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EFE8FE-CBF5-4293-F7CE-E31CAC527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56047D-A653-66AD-21D8-6425FEC0B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D962-3890-4585-9340-345F53AD322E}" type="datetimeFigureOut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72F5EB-C6CB-0233-0E9A-9F1FC27F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75A72-A5E5-37D5-E024-613A2E6F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E477-6EE6-48EC-A7E4-4D911BDB4A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65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433C77-8AD8-94D9-84F6-5E10EE31CA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339DBB-71BC-6C53-4233-51FC88DBF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23CE36-F13E-39AA-4469-BBC234019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D962-3890-4585-9340-345F53AD322E}" type="datetimeFigureOut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1A9DA2-BE7A-6A4E-D32A-70A0E777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7E9B19-4FD1-2D81-CC10-C60F1530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E477-6EE6-48EC-A7E4-4D911BDB4A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7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F002AA-30D3-4B75-02D4-9150381F0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9123E3-9AE1-EE59-DA25-1096F0F92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22A52-A66A-D808-2C03-1F44FDDD0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FD962-3890-4585-9340-345F53AD322E}" type="datetimeFigureOut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479678-7B9A-FD67-F320-83DD0434D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1314A0-7F06-3BF9-DA49-A127D14F8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8E477-6EE6-48EC-A7E4-4D911BDB4A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83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1C8685-3F67-030F-57A3-A9AB9B06C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150" y="2103437"/>
            <a:ext cx="9029700" cy="1325563"/>
          </a:xfrm>
        </p:spPr>
        <p:txBody>
          <a:bodyPr/>
          <a:lstStyle/>
          <a:p>
            <a:r>
              <a:rPr lang="ko-KR" altLang="en-US" dirty="0"/>
              <a:t>강원도</a:t>
            </a:r>
            <a:r>
              <a:rPr lang="en-US" altLang="ko-KR" dirty="0"/>
              <a:t> </a:t>
            </a:r>
            <a:r>
              <a:rPr lang="ko-KR" altLang="en-US" dirty="0"/>
              <a:t>평창군 관광객 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C381A-1A87-4E76-8D3A-BC66727418C8}"/>
              </a:ext>
            </a:extLst>
          </p:cNvPr>
          <p:cNvSpPr txBox="1"/>
          <p:nvPr/>
        </p:nvSpPr>
        <p:spPr>
          <a:xfrm>
            <a:off x="8049490" y="4830220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과목명 </a:t>
            </a:r>
            <a:r>
              <a:rPr lang="en-US" altLang="ko-KR" dirty="0"/>
              <a:t>: AI</a:t>
            </a:r>
            <a:r>
              <a:rPr lang="ko-KR" altLang="en-US" dirty="0"/>
              <a:t>고급프로그래밍</a:t>
            </a:r>
            <a:endParaRPr lang="en-US" altLang="ko-KR" dirty="0"/>
          </a:p>
          <a:p>
            <a:r>
              <a:rPr lang="ko-KR" altLang="en-US" dirty="0"/>
              <a:t>학번 </a:t>
            </a:r>
            <a:r>
              <a:rPr lang="en-US" altLang="ko-KR" dirty="0"/>
              <a:t>: 20201512</a:t>
            </a:r>
          </a:p>
          <a:p>
            <a:r>
              <a:rPr lang="ko-KR" altLang="en-US" dirty="0"/>
              <a:t>학과 </a:t>
            </a:r>
            <a:r>
              <a:rPr lang="en-US" altLang="ko-KR" dirty="0"/>
              <a:t>: </a:t>
            </a:r>
            <a:r>
              <a:rPr lang="ko-KR" altLang="en-US" dirty="0"/>
              <a:t>소프트웨어학과</a:t>
            </a:r>
            <a:endParaRPr lang="en-US" altLang="ko-KR" dirty="0"/>
          </a:p>
          <a:p>
            <a:r>
              <a:rPr lang="ko-KR" altLang="en-US" dirty="0"/>
              <a:t>이름 </a:t>
            </a:r>
            <a:r>
              <a:rPr lang="en-US" altLang="ko-KR" dirty="0"/>
              <a:t>: </a:t>
            </a:r>
            <a:r>
              <a:rPr lang="ko-KR" altLang="en-US" dirty="0"/>
              <a:t>함형빈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2460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6FDB2-B79C-FFE8-60D0-5301F7FFB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94818" cy="843467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17D35B-84E1-CCA2-2FEA-794DE0D6FB3D}"/>
              </a:ext>
            </a:extLst>
          </p:cNvPr>
          <p:cNvSpPr/>
          <p:nvPr/>
        </p:nvSpPr>
        <p:spPr>
          <a:xfrm>
            <a:off x="904006" y="1208592"/>
            <a:ext cx="10099965" cy="15222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</a:rPr>
              <a:t>data = </a:t>
            </a:r>
            <a:r>
              <a:rPr lang="en-US" altLang="ko-KR" sz="1600" dirty="0" err="1">
                <a:solidFill>
                  <a:schemeClr val="tx1"/>
                </a:solidFill>
              </a:rPr>
              <a:t>pd.read_csv</a:t>
            </a:r>
            <a:r>
              <a:rPr lang="en-US" altLang="ko-KR" sz="1600" dirty="0">
                <a:solidFill>
                  <a:schemeClr val="tx1"/>
                </a:solidFill>
              </a:rPr>
              <a:t>(file, encoding='cp949')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for </a:t>
            </a:r>
            <a:r>
              <a:rPr lang="en-US" altLang="ko-KR" sz="1600" dirty="0" err="1">
                <a:solidFill>
                  <a:schemeClr val="tx1"/>
                </a:solidFill>
              </a:rPr>
              <a:t>i</a:t>
            </a:r>
            <a:r>
              <a:rPr lang="en-US" altLang="ko-KR" sz="1600" dirty="0">
                <a:solidFill>
                  <a:schemeClr val="tx1"/>
                </a:solidFill>
              </a:rPr>
              <a:t> in range(4, 16):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    </a:t>
            </a:r>
            <a:r>
              <a:rPr lang="en-US" altLang="ko-KR" sz="1600" dirty="0" err="1">
                <a:solidFill>
                  <a:schemeClr val="tx1"/>
                </a:solidFill>
              </a:rPr>
              <a:t>data.iloc</a:t>
            </a:r>
            <a:r>
              <a:rPr lang="en-US" altLang="ko-KR" sz="1600" dirty="0">
                <a:solidFill>
                  <a:schemeClr val="tx1"/>
                </a:solidFill>
              </a:rPr>
              <a:t>[:,</a:t>
            </a:r>
            <a:r>
              <a:rPr lang="en-US" altLang="ko-KR" sz="1600" dirty="0" err="1">
                <a:solidFill>
                  <a:schemeClr val="tx1"/>
                </a:solidFill>
              </a:rPr>
              <a:t>i</a:t>
            </a:r>
            <a:r>
              <a:rPr lang="en-US" altLang="ko-KR" sz="1600" dirty="0">
                <a:solidFill>
                  <a:schemeClr val="tx1"/>
                </a:solidFill>
              </a:rPr>
              <a:t>] = </a:t>
            </a:r>
            <a:r>
              <a:rPr lang="en-US" altLang="ko-KR" sz="1600" dirty="0" err="1">
                <a:solidFill>
                  <a:schemeClr val="tx1"/>
                </a:solidFill>
              </a:rPr>
              <a:t>data.iloc</a:t>
            </a:r>
            <a:r>
              <a:rPr lang="en-US" altLang="ko-KR" sz="1600" dirty="0">
                <a:solidFill>
                  <a:schemeClr val="tx1"/>
                </a:solidFill>
              </a:rPr>
              <a:t>[:,</a:t>
            </a:r>
            <a:r>
              <a:rPr lang="en-US" altLang="ko-KR" sz="1600" dirty="0" err="1">
                <a:solidFill>
                  <a:schemeClr val="tx1"/>
                </a:solidFill>
              </a:rPr>
              <a:t>i</a:t>
            </a:r>
            <a:r>
              <a:rPr lang="en-US" altLang="ko-KR" sz="1600" dirty="0">
                <a:solidFill>
                  <a:schemeClr val="tx1"/>
                </a:solidFill>
              </a:rPr>
              <a:t>].</a:t>
            </a:r>
            <a:r>
              <a:rPr lang="en-US" altLang="ko-KR" sz="1600" dirty="0" err="1">
                <a:solidFill>
                  <a:schemeClr val="tx1"/>
                </a:solidFill>
              </a:rPr>
              <a:t>astype</a:t>
            </a:r>
            <a:r>
              <a:rPr lang="en-US" altLang="ko-KR" sz="1600" dirty="0">
                <a:solidFill>
                  <a:schemeClr val="tx1"/>
                </a:solidFill>
              </a:rPr>
              <a:t>(str).</a:t>
            </a:r>
            <a:r>
              <a:rPr lang="en-US" altLang="ko-KR" sz="1600" dirty="0" err="1">
                <a:solidFill>
                  <a:schemeClr val="tx1"/>
                </a:solidFill>
              </a:rPr>
              <a:t>str.replace</a:t>
            </a:r>
            <a:r>
              <a:rPr lang="en-US" altLang="ko-KR" sz="1600" dirty="0">
                <a:solidFill>
                  <a:schemeClr val="tx1"/>
                </a:solidFill>
              </a:rPr>
              <a:t>(',', '')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    </a:t>
            </a:r>
            <a:r>
              <a:rPr lang="en-US" altLang="ko-KR" sz="1600" dirty="0" err="1">
                <a:solidFill>
                  <a:schemeClr val="tx1"/>
                </a:solidFill>
              </a:rPr>
              <a:t>data.iloc</a:t>
            </a:r>
            <a:r>
              <a:rPr lang="en-US" altLang="ko-KR" sz="1600" dirty="0">
                <a:solidFill>
                  <a:schemeClr val="tx1"/>
                </a:solidFill>
              </a:rPr>
              <a:t>[:,</a:t>
            </a:r>
            <a:r>
              <a:rPr lang="en-US" altLang="ko-KR" sz="1600" dirty="0" err="1">
                <a:solidFill>
                  <a:schemeClr val="tx1"/>
                </a:solidFill>
              </a:rPr>
              <a:t>i</a:t>
            </a:r>
            <a:r>
              <a:rPr lang="en-US" altLang="ko-KR" sz="1600" dirty="0">
                <a:solidFill>
                  <a:schemeClr val="tx1"/>
                </a:solidFill>
              </a:rPr>
              <a:t>] = </a:t>
            </a:r>
            <a:r>
              <a:rPr lang="en-US" altLang="ko-KR" sz="1600" dirty="0" err="1">
                <a:solidFill>
                  <a:schemeClr val="tx1"/>
                </a:solidFill>
              </a:rPr>
              <a:t>data.iloc</a:t>
            </a:r>
            <a:r>
              <a:rPr lang="en-US" altLang="ko-KR" sz="1600" dirty="0">
                <a:solidFill>
                  <a:schemeClr val="tx1"/>
                </a:solidFill>
              </a:rPr>
              <a:t>[:,</a:t>
            </a:r>
            <a:r>
              <a:rPr lang="en-US" altLang="ko-KR" sz="1600" dirty="0" err="1">
                <a:solidFill>
                  <a:schemeClr val="tx1"/>
                </a:solidFill>
              </a:rPr>
              <a:t>i</a:t>
            </a:r>
            <a:r>
              <a:rPr lang="en-US" altLang="ko-KR" sz="1600" dirty="0">
                <a:solidFill>
                  <a:schemeClr val="tx1"/>
                </a:solidFill>
              </a:rPr>
              <a:t>].</a:t>
            </a:r>
            <a:r>
              <a:rPr lang="en-US" altLang="ko-KR" sz="1600" dirty="0" err="1">
                <a:solidFill>
                  <a:schemeClr val="tx1"/>
                </a:solidFill>
              </a:rPr>
              <a:t>astype</a:t>
            </a:r>
            <a:r>
              <a:rPr lang="en-US" altLang="ko-KR" sz="1600" dirty="0">
                <a:solidFill>
                  <a:schemeClr val="tx1"/>
                </a:solidFill>
              </a:rPr>
              <a:t>(str).</a:t>
            </a:r>
            <a:r>
              <a:rPr lang="en-US" altLang="ko-KR" sz="1600" dirty="0" err="1">
                <a:solidFill>
                  <a:schemeClr val="tx1"/>
                </a:solidFill>
              </a:rPr>
              <a:t>str.replace</a:t>
            </a:r>
            <a:r>
              <a:rPr lang="en-US" altLang="ko-KR" sz="1600" dirty="0">
                <a:solidFill>
                  <a:schemeClr val="tx1"/>
                </a:solidFill>
              </a:rPr>
              <a:t>('-', ‘0’)</a:t>
            </a:r>
          </a:p>
          <a:p>
            <a:r>
              <a:rPr lang="en-US" altLang="ko-KR" sz="1600" dirty="0" err="1">
                <a:solidFill>
                  <a:schemeClr val="tx1"/>
                </a:solidFill>
              </a:rPr>
              <a:t>data.iloc</a:t>
            </a:r>
            <a:r>
              <a:rPr lang="en-US" altLang="ko-KR" sz="1600" dirty="0">
                <a:solidFill>
                  <a:schemeClr val="tx1"/>
                </a:solidFill>
              </a:rPr>
              <a:t>[:,3:16] = </a:t>
            </a:r>
            <a:r>
              <a:rPr lang="en-US" altLang="ko-KR" sz="1600" dirty="0" err="1">
                <a:solidFill>
                  <a:schemeClr val="tx1"/>
                </a:solidFill>
              </a:rPr>
              <a:t>data.iloc</a:t>
            </a:r>
            <a:r>
              <a:rPr lang="en-US" altLang="ko-KR" sz="1600" dirty="0">
                <a:solidFill>
                  <a:schemeClr val="tx1"/>
                </a:solidFill>
              </a:rPr>
              <a:t>[:,3:16].apply(</a:t>
            </a:r>
            <a:r>
              <a:rPr lang="en-US" altLang="ko-KR" sz="1600" dirty="0" err="1">
                <a:solidFill>
                  <a:schemeClr val="tx1"/>
                </a:solidFill>
              </a:rPr>
              <a:t>pd.to_numeric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600" dirty="0" err="1">
                <a:solidFill>
                  <a:schemeClr val="tx1"/>
                </a:solidFill>
              </a:rPr>
              <a:t>df</a:t>
            </a:r>
            <a:r>
              <a:rPr lang="en-US" altLang="ko-KR" sz="1600" dirty="0">
                <a:solidFill>
                  <a:schemeClr val="tx1"/>
                </a:solidFill>
              </a:rPr>
              <a:t> = </a:t>
            </a:r>
            <a:r>
              <a:rPr lang="en-US" altLang="ko-KR" sz="1600" dirty="0" err="1">
                <a:solidFill>
                  <a:schemeClr val="tx1"/>
                </a:solidFill>
              </a:rPr>
              <a:t>data.iloc</a:t>
            </a:r>
            <a:r>
              <a:rPr lang="en-US" altLang="ko-KR" sz="1600" dirty="0">
                <a:solidFill>
                  <a:schemeClr val="tx1"/>
                </a:solidFill>
              </a:rPr>
              <a:t>[:,:-1]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6D6671-9359-1D59-F6D6-EE491782B68E}"/>
              </a:ext>
            </a:extLst>
          </p:cNvPr>
          <p:cNvSpPr txBox="1"/>
          <p:nvPr/>
        </p:nvSpPr>
        <p:spPr>
          <a:xfrm>
            <a:off x="838200" y="2803125"/>
            <a:ext cx="10231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*</a:t>
            </a:r>
            <a:r>
              <a:rPr lang="ko-KR" altLang="en-US" b="1" dirty="0"/>
              <a:t> 연산에 필요한 열</a:t>
            </a:r>
            <a:r>
              <a:rPr lang="en-US" altLang="ko-KR" b="1" dirty="0"/>
              <a:t>(4~16)</a:t>
            </a:r>
            <a:r>
              <a:rPr lang="ko-KR" altLang="en-US" b="1" dirty="0"/>
              <a:t>열에 형변환을 해주기 위해 </a:t>
            </a:r>
            <a:r>
              <a:rPr lang="en-US" altLang="ko-KR" b="1" dirty="0"/>
              <a:t>, </a:t>
            </a:r>
            <a:r>
              <a:rPr lang="ko-KR" altLang="en-US" b="1" dirty="0"/>
              <a:t>와 </a:t>
            </a:r>
            <a:r>
              <a:rPr lang="en-US" altLang="ko-KR" b="1" dirty="0"/>
              <a:t>– </a:t>
            </a:r>
            <a:r>
              <a:rPr lang="ko-KR" altLang="en-US" b="1" dirty="0"/>
              <a:t>값을 각각 공백</a:t>
            </a:r>
            <a:r>
              <a:rPr lang="en-US" altLang="ko-KR" b="1" dirty="0"/>
              <a:t>, 0</a:t>
            </a:r>
            <a:r>
              <a:rPr lang="ko-KR" altLang="en-US" b="1" dirty="0"/>
              <a:t>으로 대체 했다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6F882A-8F8E-E5A5-74FE-A0651C7252C9}"/>
              </a:ext>
            </a:extLst>
          </p:cNvPr>
          <p:cNvSpPr/>
          <p:nvPr/>
        </p:nvSpPr>
        <p:spPr>
          <a:xfrm>
            <a:off x="904006" y="3409122"/>
            <a:ext cx="10099965" cy="22926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err="1">
                <a:solidFill>
                  <a:schemeClr val="tx1"/>
                </a:solidFill>
              </a:rPr>
              <a:t>df</a:t>
            </a:r>
            <a:r>
              <a:rPr lang="en-US" altLang="ko-KR" sz="1600" dirty="0">
                <a:solidFill>
                  <a:schemeClr val="tx1"/>
                </a:solidFill>
              </a:rPr>
              <a:t>["</a:t>
            </a:r>
            <a:r>
              <a:rPr lang="ko-KR" altLang="en-US" sz="1600" dirty="0">
                <a:solidFill>
                  <a:schemeClr val="tx1"/>
                </a:solidFill>
              </a:rPr>
              <a:t>평균</a:t>
            </a:r>
            <a:r>
              <a:rPr lang="en-US" altLang="ko-KR" sz="1600" dirty="0">
                <a:solidFill>
                  <a:schemeClr val="tx1"/>
                </a:solidFill>
              </a:rPr>
              <a:t>"] = </a:t>
            </a:r>
            <a:r>
              <a:rPr lang="en-US" altLang="ko-KR" sz="1600" dirty="0" err="1">
                <a:solidFill>
                  <a:schemeClr val="tx1"/>
                </a:solidFill>
              </a:rPr>
              <a:t>df.iloc</a:t>
            </a:r>
            <a:r>
              <a:rPr lang="en-US" altLang="ko-KR" sz="1600" dirty="0">
                <a:solidFill>
                  <a:schemeClr val="tx1"/>
                </a:solidFill>
              </a:rPr>
              <a:t>[:,4:16].mean(axis=1) # </a:t>
            </a:r>
            <a:r>
              <a:rPr lang="ko-KR" altLang="en-US" sz="1600" dirty="0">
                <a:solidFill>
                  <a:schemeClr val="tx1"/>
                </a:solidFill>
              </a:rPr>
              <a:t>평균 방문자 수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 err="1">
                <a:solidFill>
                  <a:schemeClr val="tx1"/>
                </a:solidFill>
              </a:rPr>
              <a:t>df</a:t>
            </a:r>
            <a:r>
              <a:rPr lang="en-US" altLang="ko-KR" sz="1600" dirty="0">
                <a:solidFill>
                  <a:schemeClr val="tx1"/>
                </a:solidFill>
              </a:rPr>
              <a:t>['</a:t>
            </a:r>
            <a:r>
              <a:rPr lang="ko-KR" altLang="en-US" sz="1600" dirty="0">
                <a:solidFill>
                  <a:schemeClr val="tx1"/>
                </a:solidFill>
              </a:rPr>
              <a:t>봄</a:t>
            </a:r>
            <a:r>
              <a:rPr lang="en-US" altLang="ko-KR" sz="1600" dirty="0">
                <a:solidFill>
                  <a:schemeClr val="tx1"/>
                </a:solidFill>
              </a:rPr>
              <a:t>'] = </a:t>
            </a:r>
            <a:r>
              <a:rPr lang="en-US" altLang="ko-KR" sz="1600" dirty="0" err="1">
                <a:solidFill>
                  <a:schemeClr val="tx1"/>
                </a:solidFill>
              </a:rPr>
              <a:t>df.iloc</a:t>
            </a:r>
            <a:r>
              <a:rPr lang="en-US" altLang="ko-KR" sz="1600" dirty="0">
                <a:solidFill>
                  <a:schemeClr val="tx1"/>
                </a:solidFill>
              </a:rPr>
              <a:t>[:,6:9].sum(axis=1) #</a:t>
            </a:r>
            <a:r>
              <a:rPr lang="ko-KR" altLang="en-US" sz="1600" dirty="0">
                <a:solidFill>
                  <a:schemeClr val="tx1"/>
                </a:solidFill>
              </a:rPr>
              <a:t>봄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 err="1">
                <a:solidFill>
                  <a:schemeClr val="tx1"/>
                </a:solidFill>
              </a:rPr>
              <a:t>df</a:t>
            </a:r>
            <a:r>
              <a:rPr lang="en-US" altLang="ko-KR" sz="1600" dirty="0">
                <a:solidFill>
                  <a:schemeClr val="tx1"/>
                </a:solidFill>
              </a:rPr>
              <a:t>['</a:t>
            </a:r>
            <a:r>
              <a:rPr lang="ko-KR" altLang="en-US" sz="1600" dirty="0">
                <a:solidFill>
                  <a:schemeClr val="tx1"/>
                </a:solidFill>
              </a:rPr>
              <a:t>여름</a:t>
            </a:r>
            <a:r>
              <a:rPr lang="en-US" altLang="ko-KR" sz="1600" dirty="0">
                <a:solidFill>
                  <a:schemeClr val="tx1"/>
                </a:solidFill>
              </a:rPr>
              <a:t>'] = </a:t>
            </a:r>
            <a:r>
              <a:rPr lang="en-US" altLang="ko-KR" sz="1600" dirty="0" err="1">
                <a:solidFill>
                  <a:schemeClr val="tx1"/>
                </a:solidFill>
              </a:rPr>
              <a:t>df.iloc</a:t>
            </a:r>
            <a:r>
              <a:rPr lang="en-US" altLang="ko-KR" sz="1600" dirty="0">
                <a:solidFill>
                  <a:schemeClr val="tx1"/>
                </a:solidFill>
              </a:rPr>
              <a:t>[:,9:12].sum(axis=1) #</a:t>
            </a:r>
            <a:r>
              <a:rPr lang="ko-KR" altLang="en-US" sz="1600" dirty="0">
                <a:solidFill>
                  <a:schemeClr val="tx1"/>
                </a:solidFill>
              </a:rPr>
              <a:t>여름 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 err="1">
                <a:solidFill>
                  <a:schemeClr val="tx1"/>
                </a:solidFill>
              </a:rPr>
              <a:t>Df</a:t>
            </a:r>
            <a:r>
              <a:rPr lang="en-US" altLang="ko-KR" sz="1600" dirty="0">
                <a:solidFill>
                  <a:schemeClr val="tx1"/>
                </a:solidFill>
              </a:rPr>
              <a:t>[＇</a:t>
            </a:r>
            <a:r>
              <a:rPr lang="ko-KR" altLang="en-US" sz="1600" dirty="0">
                <a:solidFill>
                  <a:schemeClr val="tx1"/>
                </a:solidFill>
              </a:rPr>
              <a:t>가을</a:t>
            </a:r>
            <a:r>
              <a:rPr lang="en-US" altLang="ko-KR" sz="1600" dirty="0">
                <a:solidFill>
                  <a:schemeClr val="tx1"/>
                </a:solidFill>
              </a:rPr>
              <a:t>＇] = </a:t>
            </a:r>
            <a:r>
              <a:rPr lang="en-US" altLang="ko-KR" sz="1600" dirty="0" err="1">
                <a:solidFill>
                  <a:schemeClr val="tx1"/>
                </a:solidFill>
              </a:rPr>
              <a:t>df.iloc</a:t>
            </a:r>
            <a:r>
              <a:rPr lang="en-US" altLang="ko-KR" sz="1600" dirty="0">
                <a:solidFill>
                  <a:schemeClr val="tx1"/>
                </a:solidFill>
              </a:rPr>
              <a:t>[:,12:15].sum(axis=1) #</a:t>
            </a:r>
            <a:r>
              <a:rPr lang="ko-KR" altLang="en-US" sz="1600" dirty="0">
                <a:solidFill>
                  <a:schemeClr val="tx1"/>
                </a:solidFill>
              </a:rPr>
              <a:t>가을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 err="1">
                <a:solidFill>
                  <a:schemeClr val="tx1"/>
                </a:solidFill>
              </a:rPr>
              <a:t>Df</a:t>
            </a:r>
            <a:r>
              <a:rPr lang="en-US" altLang="ko-KR" sz="1600" dirty="0">
                <a:solidFill>
                  <a:schemeClr val="tx1"/>
                </a:solidFill>
              </a:rPr>
              <a:t>[＇</a:t>
            </a:r>
            <a:r>
              <a:rPr lang="ko-KR" altLang="en-US" sz="1600" dirty="0">
                <a:solidFill>
                  <a:schemeClr val="tx1"/>
                </a:solidFill>
              </a:rPr>
              <a:t>겨울</a:t>
            </a:r>
            <a:r>
              <a:rPr lang="en-US" altLang="ko-KR" sz="1600" dirty="0">
                <a:solidFill>
                  <a:schemeClr val="tx1"/>
                </a:solidFill>
              </a:rPr>
              <a:t>＇] = </a:t>
            </a:r>
            <a:r>
              <a:rPr lang="en-US" altLang="ko-KR" sz="1600" dirty="0" err="1">
                <a:solidFill>
                  <a:schemeClr val="tx1"/>
                </a:solidFill>
              </a:rPr>
              <a:t>df.iloc</a:t>
            </a:r>
            <a:r>
              <a:rPr lang="en-US" altLang="ko-KR" sz="1600" dirty="0">
                <a:solidFill>
                  <a:schemeClr val="tx1"/>
                </a:solidFill>
              </a:rPr>
              <a:t>[:,[15, 4, 5]].sum(axis=1) #</a:t>
            </a:r>
            <a:r>
              <a:rPr lang="ko-KR" altLang="en-US" sz="1600" dirty="0">
                <a:solidFill>
                  <a:schemeClr val="tx1"/>
                </a:solidFill>
              </a:rPr>
              <a:t>겨울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Local = </a:t>
            </a:r>
            <a:r>
              <a:rPr lang="en-US" altLang="ko-KR" sz="1600" dirty="0" err="1">
                <a:solidFill>
                  <a:schemeClr val="tx1"/>
                </a:solidFill>
              </a:rPr>
              <a:t>df</a:t>
            </a:r>
            <a:r>
              <a:rPr lang="en-US" altLang="ko-KR" sz="1600" dirty="0">
                <a:solidFill>
                  <a:schemeClr val="tx1"/>
                </a:solidFill>
              </a:rPr>
              <a:t>[</a:t>
            </a:r>
            <a:r>
              <a:rPr lang="en-US" altLang="ko-KR" sz="1600" dirty="0" err="1">
                <a:solidFill>
                  <a:schemeClr val="tx1"/>
                </a:solidFill>
              </a:rPr>
              <a:t>df.iloc</a:t>
            </a:r>
            <a:r>
              <a:rPr lang="en-US" altLang="ko-KR" sz="1600" dirty="0">
                <a:solidFill>
                  <a:schemeClr val="tx1"/>
                </a:solidFill>
              </a:rPr>
              <a:t>[:,2] == ＇</a:t>
            </a:r>
            <a:r>
              <a:rPr lang="ko-KR" altLang="en-US" sz="1600" dirty="0">
                <a:solidFill>
                  <a:schemeClr val="tx1"/>
                </a:solidFill>
              </a:rPr>
              <a:t>내국인</a:t>
            </a:r>
            <a:r>
              <a:rPr lang="en-US" altLang="ko-KR" sz="1600" dirty="0">
                <a:solidFill>
                  <a:schemeClr val="tx1"/>
                </a:solidFill>
              </a:rPr>
              <a:t>’] #</a:t>
            </a:r>
            <a:r>
              <a:rPr lang="ko-KR" altLang="en-US" sz="1600" dirty="0">
                <a:solidFill>
                  <a:schemeClr val="tx1"/>
                </a:solidFill>
              </a:rPr>
              <a:t>데이터 나누기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Foreigner = </a:t>
            </a:r>
            <a:r>
              <a:rPr lang="en-US" altLang="ko-KR" sz="1600" dirty="0" err="1">
                <a:solidFill>
                  <a:schemeClr val="tx1"/>
                </a:solidFill>
              </a:rPr>
              <a:t>df</a:t>
            </a:r>
            <a:r>
              <a:rPr lang="en-US" altLang="ko-KR" sz="1600" dirty="0">
                <a:solidFill>
                  <a:schemeClr val="tx1"/>
                </a:solidFill>
              </a:rPr>
              <a:t>[</a:t>
            </a:r>
            <a:r>
              <a:rPr lang="en-US" altLang="ko-KR" sz="1600" dirty="0" err="1">
                <a:solidFill>
                  <a:schemeClr val="tx1"/>
                </a:solidFill>
              </a:rPr>
              <a:t>df.iloc</a:t>
            </a:r>
            <a:r>
              <a:rPr lang="en-US" altLang="ko-KR" sz="1600" dirty="0">
                <a:solidFill>
                  <a:schemeClr val="tx1"/>
                </a:solidFill>
              </a:rPr>
              <a:t>[:,2] == ＇</a:t>
            </a:r>
            <a:r>
              <a:rPr lang="ko-KR" altLang="en-US" sz="1600" dirty="0">
                <a:solidFill>
                  <a:schemeClr val="tx1"/>
                </a:solidFill>
              </a:rPr>
              <a:t>외국인</a:t>
            </a:r>
            <a:r>
              <a:rPr lang="en-US" altLang="ko-KR" sz="1600" dirty="0">
                <a:solidFill>
                  <a:schemeClr val="tx1"/>
                </a:solidFill>
              </a:rPr>
              <a:t>’]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Local = </a:t>
            </a:r>
            <a:r>
              <a:rPr lang="en-US" altLang="ko-KR" sz="1600" dirty="0" err="1">
                <a:solidFill>
                  <a:schemeClr val="tx1"/>
                </a:solidFill>
              </a:rPr>
              <a:t>local.reset_index</a:t>
            </a:r>
            <a:r>
              <a:rPr lang="en-US" altLang="ko-KR" sz="1600" dirty="0">
                <a:solidFill>
                  <a:schemeClr val="tx1"/>
                </a:solidFill>
              </a:rPr>
              <a:t>(drop=True) #</a:t>
            </a:r>
            <a:r>
              <a:rPr lang="ko-KR" altLang="en-US" sz="1600" dirty="0">
                <a:solidFill>
                  <a:schemeClr val="tx1"/>
                </a:solidFill>
              </a:rPr>
              <a:t>인덱스 초기화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Foreigner = </a:t>
            </a:r>
            <a:r>
              <a:rPr lang="en-US" altLang="ko-KR" sz="1600" dirty="0" err="1">
                <a:solidFill>
                  <a:schemeClr val="tx1"/>
                </a:solidFill>
              </a:rPr>
              <a:t>foreigner.reset_index</a:t>
            </a:r>
            <a:r>
              <a:rPr lang="en-US" altLang="ko-KR" sz="1600" dirty="0">
                <a:solidFill>
                  <a:schemeClr val="tx1"/>
                </a:solidFill>
              </a:rPr>
              <a:t>(drop=True)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FE3501-DAB6-BE8E-2146-46AEB189F0FF}"/>
              </a:ext>
            </a:extLst>
          </p:cNvPr>
          <p:cNvSpPr txBox="1"/>
          <p:nvPr/>
        </p:nvSpPr>
        <p:spPr>
          <a:xfrm>
            <a:off x="838200" y="5774099"/>
            <a:ext cx="10494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* </a:t>
            </a:r>
            <a:r>
              <a:rPr lang="ko-KR" altLang="en-US" b="1" dirty="0"/>
              <a:t>관광지 별 매월 평균 방문자 수</a:t>
            </a:r>
            <a:r>
              <a:rPr lang="en-US" altLang="ko-KR" b="1" dirty="0"/>
              <a:t>, </a:t>
            </a:r>
            <a:r>
              <a:rPr lang="ko-KR" altLang="en-US" b="1" dirty="0"/>
              <a:t>계절별 방문자 수를 추가했다</a:t>
            </a:r>
            <a:r>
              <a:rPr lang="en-US" altLang="ko-KR" b="1" dirty="0"/>
              <a:t>.</a:t>
            </a:r>
          </a:p>
          <a:p>
            <a:r>
              <a:rPr lang="en-US" altLang="ko-KR" b="1" dirty="0"/>
              <a:t>*</a:t>
            </a:r>
            <a:r>
              <a:rPr lang="ko-KR" altLang="en-US" b="1" dirty="0"/>
              <a:t> 내국인</a:t>
            </a:r>
            <a:r>
              <a:rPr lang="en-US" altLang="ko-KR" b="1" dirty="0"/>
              <a:t>, </a:t>
            </a:r>
            <a:r>
              <a:rPr lang="ko-KR" altLang="en-US" b="1" dirty="0"/>
              <a:t>외국인 데이터를 나눠 분석하기로 결정해 각각 </a:t>
            </a:r>
            <a:r>
              <a:rPr lang="en-US" altLang="ko-KR" b="1" dirty="0"/>
              <a:t>local, foreigner </a:t>
            </a:r>
            <a:r>
              <a:rPr lang="ko-KR" altLang="en-US" b="1" dirty="0"/>
              <a:t>변수에 따로 저장 후 인덱스 초기화를 했다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90366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589B572-A32D-95F0-A12E-67ADC896E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94818" cy="1048039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 분석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E1455-C78E-3D1E-0376-DFAA04B1879D}"/>
              </a:ext>
            </a:extLst>
          </p:cNvPr>
          <p:cNvSpPr txBox="1"/>
          <p:nvPr/>
        </p:nvSpPr>
        <p:spPr>
          <a:xfrm>
            <a:off x="4663013" y="1537873"/>
            <a:ext cx="73548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최고 그래프 </a:t>
            </a:r>
            <a:r>
              <a:rPr lang="en-US" altLang="ko-KR" dirty="0"/>
              <a:t>: </a:t>
            </a:r>
            <a:r>
              <a:rPr lang="ko-KR" altLang="en-US" b="1" dirty="0" err="1"/>
              <a:t>월정사</a:t>
            </a:r>
            <a:r>
              <a:rPr lang="en-US" altLang="ko-KR" dirty="0"/>
              <a:t>(67%), </a:t>
            </a:r>
            <a:r>
              <a:rPr lang="ko-KR" altLang="en-US" b="1" dirty="0" err="1"/>
              <a:t>용평리조트</a:t>
            </a:r>
            <a:r>
              <a:rPr lang="en-US" altLang="ko-KR" dirty="0"/>
              <a:t>(25%, 8%)</a:t>
            </a:r>
            <a:r>
              <a:rPr lang="ko-KR" altLang="en-US" dirty="0"/>
              <a:t>가 차지했다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86150" lvl="7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집계된 관광지의 빈도 수가 같지 않기 때문에 절대적으로 월정사가 </a:t>
            </a:r>
            <a:r>
              <a:rPr lang="en-US" altLang="ko-KR" dirty="0"/>
              <a:t>1</a:t>
            </a:r>
            <a:r>
              <a:rPr lang="ko-KR" altLang="en-US" dirty="0"/>
              <a:t>위라고 할 수 없을 것 같다</a:t>
            </a:r>
            <a:r>
              <a:rPr lang="en-US" altLang="ko-KR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1AC4C0D-0EC6-C8AE-1D75-4A8C535D1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6686" y="1223198"/>
            <a:ext cx="3423516" cy="27388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8C49D7-74A4-595C-EE63-4ACC12158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119" y="3973616"/>
            <a:ext cx="3453029" cy="27156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F76F38-AF99-5184-1519-5634E3216BA3}"/>
              </a:ext>
            </a:extLst>
          </p:cNvPr>
          <p:cNvSpPr txBox="1"/>
          <p:nvPr/>
        </p:nvSpPr>
        <p:spPr>
          <a:xfrm>
            <a:off x="4554583" y="4284617"/>
            <a:ext cx="73548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최저 그래프 </a:t>
            </a:r>
            <a:r>
              <a:rPr lang="en-US" altLang="ko-KR" dirty="0"/>
              <a:t>: </a:t>
            </a:r>
            <a:r>
              <a:rPr lang="ko-KR" altLang="en-US" b="1" dirty="0"/>
              <a:t>평창 </a:t>
            </a:r>
            <a:r>
              <a:rPr lang="ko-KR" altLang="en-US" b="1" dirty="0" err="1"/>
              <a:t>동강민물고기생태관</a:t>
            </a:r>
            <a:r>
              <a:rPr lang="en-US" altLang="ko-KR" dirty="0"/>
              <a:t>(18%), </a:t>
            </a:r>
            <a:r>
              <a:rPr lang="ko-KR" altLang="en-US" b="1" dirty="0"/>
              <a:t>오대산청소년수련원</a:t>
            </a:r>
            <a:r>
              <a:rPr lang="en-US" altLang="ko-KR" dirty="0"/>
              <a:t>(35%), </a:t>
            </a:r>
            <a:r>
              <a:rPr lang="ko-KR" altLang="en-US" b="1" dirty="0"/>
              <a:t>대관령콘도</a:t>
            </a:r>
            <a:r>
              <a:rPr lang="en-US" altLang="ko-KR" dirty="0"/>
              <a:t>(6%), </a:t>
            </a:r>
            <a:r>
              <a:rPr lang="ko-KR" altLang="en-US" b="1" dirty="0" err="1"/>
              <a:t>플로라호텔</a:t>
            </a:r>
            <a:r>
              <a:rPr lang="en-US" altLang="ko-KR" dirty="0"/>
              <a:t>(6%), </a:t>
            </a:r>
            <a:r>
              <a:rPr lang="ko-KR" altLang="en-US" b="1" dirty="0" err="1"/>
              <a:t>평창힐링청소년</a:t>
            </a:r>
            <a:r>
              <a:rPr lang="ko-KR" altLang="en-US" b="1" dirty="0"/>
              <a:t> 수련원</a:t>
            </a:r>
            <a:r>
              <a:rPr lang="en-US" altLang="ko-KR" dirty="0"/>
              <a:t>(6%), </a:t>
            </a:r>
            <a:r>
              <a:rPr lang="ko-KR" altLang="en-US" b="1" dirty="0" err="1"/>
              <a:t>한국앵무새학교</a:t>
            </a:r>
            <a:r>
              <a:rPr lang="en-US" altLang="ko-KR" dirty="0"/>
              <a:t>(12%), </a:t>
            </a:r>
            <a:r>
              <a:rPr lang="ko-KR" altLang="en-US" b="1" dirty="0"/>
              <a:t>한국전통음식문화체험관</a:t>
            </a:r>
            <a:r>
              <a:rPr lang="en-US" altLang="ko-KR" dirty="0"/>
              <a:t>(18%)</a:t>
            </a:r>
            <a:r>
              <a:rPr lang="ko-KR" altLang="en-US" dirty="0"/>
              <a:t>이 차지했다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청소년수련원이 </a:t>
            </a:r>
            <a:r>
              <a:rPr lang="en-US" altLang="ko-KR" dirty="0"/>
              <a:t>2</a:t>
            </a:r>
            <a:r>
              <a:rPr lang="ko-KR" altLang="en-US" dirty="0"/>
              <a:t>곳</a:t>
            </a:r>
            <a:r>
              <a:rPr lang="en-US" altLang="ko-KR" dirty="0"/>
              <a:t>, </a:t>
            </a:r>
            <a:r>
              <a:rPr lang="ko-KR" altLang="en-US" dirty="0"/>
              <a:t>동물관련 관광지</a:t>
            </a:r>
            <a:r>
              <a:rPr lang="en-US" altLang="ko-KR" dirty="0"/>
              <a:t>, </a:t>
            </a:r>
            <a:r>
              <a:rPr lang="ko-KR" altLang="en-US" dirty="0"/>
              <a:t>체험관</a:t>
            </a:r>
            <a:r>
              <a:rPr lang="en-US" altLang="ko-KR" dirty="0"/>
              <a:t>, </a:t>
            </a:r>
            <a:r>
              <a:rPr lang="ko-KR" altLang="en-US" dirty="0"/>
              <a:t>호텔 등 여러 분야 관광지가 선정되었다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7957F6-A328-A2F4-7B66-193AE830FCF0}"/>
              </a:ext>
            </a:extLst>
          </p:cNvPr>
          <p:cNvSpPr txBox="1"/>
          <p:nvPr/>
        </p:nvSpPr>
        <p:spPr>
          <a:xfrm>
            <a:off x="4593345" y="674500"/>
            <a:ext cx="7354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연도별 </a:t>
            </a:r>
            <a:r>
              <a:rPr lang="ko-KR" altLang="en-US" b="1" dirty="0"/>
              <a:t>내국인 최고</a:t>
            </a:r>
            <a:r>
              <a:rPr lang="en-US" altLang="ko-KR" b="1" dirty="0"/>
              <a:t>, </a:t>
            </a:r>
            <a:r>
              <a:rPr lang="ko-KR" altLang="en-US" b="1" dirty="0"/>
              <a:t>최저 </a:t>
            </a:r>
            <a:r>
              <a:rPr lang="ko-KR" altLang="en-US" dirty="0"/>
              <a:t>평균 방문 관광지 선정 빈도를 원그래프</a:t>
            </a:r>
            <a:endParaRPr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1AF6263-2226-EE56-52F0-EB38EBB89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094" y="1943489"/>
            <a:ext cx="3134162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06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5D55F9C-CBDA-C358-1B3F-7C46EB09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1" cy="995589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 분석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10F1EB-2506-D640-C048-72DABFB38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360714"/>
            <a:ext cx="3140227" cy="251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B54719D-1D54-C672-0FBC-C3F5E46B9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240115"/>
            <a:ext cx="3140229" cy="25143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BF86FE-86A2-086C-0AD9-C50B7A96C6C8}"/>
              </a:ext>
            </a:extLst>
          </p:cNvPr>
          <p:cNvSpPr txBox="1"/>
          <p:nvPr/>
        </p:nvSpPr>
        <p:spPr>
          <a:xfrm>
            <a:off x="4663012" y="1346723"/>
            <a:ext cx="73548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최고 그래프 </a:t>
            </a:r>
            <a:r>
              <a:rPr lang="en-US" altLang="ko-KR" sz="1600" dirty="0"/>
              <a:t>: </a:t>
            </a:r>
            <a:r>
              <a:rPr lang="en-US" altLang="ko-KR" sz="1600" b="1" dirty="0">
                <a:solidFill>
                  <a:srgbClr val="FF0000"/>
                </a:solidFill>
              </a:rPr>
              <a:t>2013</a:t>
            </a:r>
            <a:r>
              <a:rPr lang="ko-KR" altLang="en-US" sz="1600" b="1" dirty="0">
                <a:solidFill>
                  <a:srgbClr val="FF0000"/>
                </a:solidFill>
              </a:rPr>
              <a:t>년도 기준으로 첫 번째 급감하는 추세를 보인다</a:t>
            </a:r>
            <a:r>
              <a:rPr lang="en-US" altLang="ko-KR" sz="1600" b="1" dirty="0">
                <a:solidFill>
                  <a:srgbClr val="FF0000"/>
                </a:solidFill>
              </a:rPr>
              <a:t>. </a:t>
            </a:r>
            <a:r>
              <a:rPr lang="ko-KR" altLang="en-US" sz="1600" b="1" dirty="0">
                <a:solidFill>
                  <a:srgbClr val="FF0000"/>
                </a:solidFill>
              </a:rPr>
              <a:t>또한 </a:t>
            </a:r>
            <a:r>
              <a:rPr lang="en-US" altLang="ko-KR" sz="1600" b="1" dirty="0">
                <a:solidFill>
                  <a:srgbClr val="FF0000"/>
                </a:solidFill>
              </a:rPr>
              <a:t>2020</a:t>
            </a:r>
            <a:r>
              <a:rPr lang="ko-KR" altLang="en-US" sz="1600" b="1" dirty="0">
                <a:solidFill>
                  <a:srgbClr val="FF0000"/>
                </a:solidFill>
              </a:rPr>
              <a:t>년도 두 번째 급감을 하게 된다</a:t>
            </a:r>
            <a:r>
              <a:rPr lang="en-US" altLang="ko-KR" sz="1600" b="1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2020</a:t>
            </a:r>
            <a:r>
              <a:rPr lang="ko-KR" altLang="en-US" sz="1600" b="1" dirty="0"/>
              <a:t>년도의 경우 코로나 사태가 있어 감소한 것 같지만 </a:t>
            </a:r>
            <a:r>
              <a:rPr lang="en-US" altLang="ko-KR" sz="1600" b="1" dirty="0"/>
              <a:t>2013</a:t>
            </a:r>
            <a:r>
              <a:rPr lang="ko-KR" altLang="en-US" sz="1600" b="1" dirty="0"/>
              <a:t>년도</a:t>
            </a:r>
            <a:r>
              <a:rPr lang="en-US" altLang="ko-KR" sz="1600" b="1" dirty="0"/>
              <a:t>					</a:t>
            </a:r>
            <a:r>
              <a:rPr lang="ko-KR" altLang="en-US" sz="1600" b="1" dirty="0"/>
              <a:t>의 급감 이유를 알아보자</a:t>
            </a:r>
            <a:r>
              <a:rPr lang="en-US" altLang="ko-KR" sz="1600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3486150" lvl="7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아까 우려했던 집계된 관광지 수가 같지 않았던 점이 나온다</a:t>
            </a:r>
            <a:r>
              <a:rPr lang="en-US" altLang="ko-KR" sz="1400" b="1" dirty="0"/>
              <a:t>. 2012</a:t>
            </a:r>
            <a:r>
              <a:rPr lang="ko-KR" altLang="en-US" sz="1400" b="1" dirty="0"/>
              <a:t>년까진 </a:t>
            </a:r>
            <a:r>
              <a:rPr lang="ko-KR" altLang="en-US" sz="1400" b="1" dirty="0" err="1"/>
              <a:t>용평리조트</a:t>
            </a:r>
            <a:r>
              <a:rPr lang="ko-KR" altLang="en-US" sz="1400" b="1" dirty="0"/>
              <a:t> 숙박시설이 있지만 이후엔 집계되지 않았다</a:t>
            </a:r>
            <a:r>
              <a:rPr lang="en-US" altLang="ko-KR" sz="1400" b="1" dirty="0"/>
              <a:t>.</a:t>
            </a:r>
          </a:p>
          <a:p>
            <a:pPr marL="3486150" lvl="7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평균을 보게 되면 </a:t>
            </a:r>
            <a:r>
              <a:rPr lang="ko-KR" altLang="en-US" sz="1400" b="1" dirty="0" err="1">
                <a:solidFill>
                  <a:srgbClr val="FF0000"/>
                </a:solidFill>
              </a:rPr>
              <a:t>용평리조트</a:t>
            </a:r>
            <a:r>
              <a:rPr lang="en-US" altLang="ko-KR" sz="1400" b="1" dirty="0">
                <a:solidFill>
                  <a:srgbClr val="FF0000"/>
                </a:solidFill>
              </a:rPr>
              <a:t>(2012)</a:t>
            </a:r>
            <a:r>
              <a:rPr lang="ko-KR" altLang="en-US" sz="1400" b="1" dirty="0">
                <a:solidFill>
                  <a:srgbClr val="FF0000"/>
                </a:solidFill>
              </a:rPr>
              <a:t>와 </a:t>
            </a:r>
            <a:r>
              <a:rPr lang="ko-KR" altLang="en-US" sz="1400" b="1" dirty="0" err="1">
                <a:solidFill>
                  <a:srgbClr val="FF0000"/>
                </a:solidFill>
              </a:rPr>
              <a:t>월정사</a:t>
            </a:r>
            <a:r>
              <a:rPr lang="en-US" altLang="ko-KR" sz="1400" b="1" dirty="0">
                <a:solidFill>
                  <a:srgbClr val="FF0000"/>
                </a:solidFill>
              </a:rPr>
              <a:t>(2013)</a:t>
            </a:r>
            <a:r>
              <a:rPr lang="ko-KR" altLang="en-US" sz="1400" b="1" dirty="0">
                <a:solidFill>
                  <a:srgbClr val="FF0000"/>
                </a:solidFill>
              </a:rPr>
              <a:t>이 </a:t>
            </a:r>
            <a:r>
              <a:rPr lang="en-US" altLang="ko-KR" sz="1400" b="1" dirty="0">
                <a:solidFill>
                  <a:srgbClr val="FF0000"/>
                </a:solidFill>
              </a:rPr>
              <a:t>70000</a:t>
            </a:r>
            <a:r>
              <a:rPr lang="ko-KR" altLang="en-US" sz="1400" b="1" dirty="0">
                <a:solidFill>
                  <a:srgbClr val="FF0000"/>
                </a:solidFill>
              </a:rPr>
              <a:t>명 가량 차이가 난다</a:t>
            </a:r>
            <a:r>
              <a:rPr lang="en-US" altLang="ko-KR" sz="1400" b="1" dirty="0"/>
              <a:t>.</a:t>
            </a:r>
          </a:p>
          <a:p>
            <a:pPr marL="3486150" lvl="7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만약 </a:t>
            </a:r>
            <a:r>
              <a:rPr lang="ko-KR" altLang="en-US" sz="1400" b="1" dirty="0" err="1"/>
              <a:t>용평리조트숙박시설이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2013</a:t>
            </a:r>
            <a:r>
              <a:rPr lang="ko-KR" altLang="en-US" sz="1400" b="1" dirty="0"/>
              <a:t>년 이후에도 집계되었다면 결과는 달라졌을 것 같다</a:t>
            </a:r>
            <a:r>
              <a:rPr lang="en-US" altLang="ko-KR" sz="1400" b="1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FA57BC-DCE0-139E-269C-8A825A4D95B2}"/>
              </a:ext>
            </a:extLst>
          </p:cNvPr>
          <p:cNvSpPr txBox="1"/>
          <p:nvPr/>
        </p:nvSpPr>
        <p:spPr>
          <a:xfrm>
            <a:off x="4663012" y="671258"/>
            <a:ext cx="524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연도별 </a:t>
            </a:r>
            <a:r>
              <a:rPr lang="ko-KR" altLang="en-US" b="1" dirty="0"/>
              <a:t>내국인 최고</a:t>
            </a:r>
            <a:r>
              <a:rPr lang="en-US" altLang="ko-KR" b="1" dirty="0"/>
              <a:t>, </a:t>
            </a:r>
            <a:r>
              <a:rPr lang="ko-KR" altLang="en-US" b="1" dirty="0"/>
              <a:t>최저</a:t>
            </a:r>
            <a:r>
              <a:rPr lang="ko-KR" altLang="en-US" dirty="0"/>
              <a:t> 평균 방문 수 선그래프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7CEEE1-D378-6A5B-D1F3-88678918164C}"/>
              </a:ext>
            </a:extLst>
          </p:cNvPr>
          <p:cNvSpPr txBox="1"/>
          <p:nvPr/>
        </p:nvSpPr>
        <p:spPr>
          <a:xfrm>
            <a:off x="4663012" y="4357115"/>
            <a:ext cx="76432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최저 그래프 </a:t>
            </a:r>
            <a:r>
              <a:rPr lang="en-US" altLang="ko-KR" sz="1600" dirty="0"/>
              <a:t>: </a:t>
            </a:r>
            <a:r>
              <a:rPr lang="en-US" altLang="ko-KR" sz="1600" b="1" dirty="0"/>
              <a:t>2016</a:t>
            </a:r>
            <a:r>
              <a:rPr lang="ko-KR" altLang="en-US" sz="1600" b="1" dirty="0"/>
              <a:t>년도부터 방문을 하지 않는 관광지가 생겼다</a:t>
            </a:r>
            <a:r>
              <a:rPr lang="en-US" altLang="ko-KR" sz="1600" b="1" dirty="0"/>
              <a:t>.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endParaRPr lang="en-US" altLang="ko-KR" sz="1600" b="1" dirty="0"/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방문이 없는 관광지 중 </a:t>
            </a:r>
            <a:r>
              <a:rPr lang="en-US" altLang="ko-KR" sz="1600" b="1" dirty="0"/>
              <a:t>: </a:t>
            </a:r>
            <a:r>
              <a:rPr lang="ko-KR" altLang="en-US" sz="1600" b="1" dirty="0">
                <a:solidFill>
                  <a:srgbClr val="FF0000"/>
                </a:solidFill>
              </a:rPr>
              <a:t>오대산청소년수련원은 </a:t>
            </a:r>
            <a:r>
              <a:rPr lang="en-US" altLang="ko-KR" sz="1600" b="1" dirty="0">
                <a:solidFill>
                  <a:srgbClr val="FF0000"/>
                </a:solidFill>
              </a:rPr>
              <a:t>5</a:t>
            </a:r>
            <a:r>
              <a:rPr lang="ko-KR" altLang="en-US" sz="1600" b="1" dirty="0">
                <a:solidFill>
                  <a:srgbClr val="FF0000"/>
                </a:solidFill>
              </a:rPr>
              <a:t>년간 평창물고기생태관</a:t>
            </a:r>
            <a:r>
              <a:rPr lang="en-US" altLang="ko-KR" sz="1600" b="1" dirty="0">
                <a:solidFill>
                  <a:srgbClr val="FF0000"/>
                </a:solidFill>
              </a:rPr>
              <a:t>(2), </a:t>
            </a:r>
            <a:r>
              <a:rPr lang="ko-KR" altLang="en-US" sz="1600" b="1" dirty="0">
                <a:solidFill>
                  <a:srgbClr val="FF0000"/>
                </a:solidFill>
              </a:rPr>
              <a:t>앵무새학교</a:t>
            </a:r>
            <a:r>
              <a:rPr lang="en-US" altLang="ko-KR" sz="1600" b="1" dirty="0">
                <a:solidFill>
                  <a:srgbClr val="FF0000"/>
                </a:solidFill>
              </a:rPr>
              <a:t>(2), </a:t>
            </a:r>
            <a:r>
              <a:rPr lang="ko-KR" altLang="en-US" sz="1600" b="1" dirty="0">
                <a:solidFill>
                  <a:srgbClr val="FF0000"/>
                </a:solidFill>
              </a:rPr>
              <a:t>이외 </a:t>
            </a:r>
            <a:r>
              <a:rPr lang="en-US" altLang="ko-KR" sz="1600" b="1" dirty="0">
                <a:solidFill>
                  <a:srgbClr val="FF0000"/>
                </a:solidFill>
              </a:rPr>
              <a:t>1</a:t>
            </a:r>
            <a:r>
              <a:rPr lang="ko-KR" altLang="en-US" sz="1600" b="1" dirty="0">
                <a:solidFill>
                  <a:srgbClr val="FF0000"/>
                </a:solidFill>
              </a:rPr>
              <a:t>년 씩 선정 되었다</a:t>
            </a:r>
            <a:r>
              <a:rPr lang="en-US" altLang="ko-KR" sz="1600" b="1" dirty="0">
                <a:solidFill>
                  <a:srgbClr val="FF0000"/>
                </a:solidFill>
              </a:rPr>
              <a:t>.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오대산청소년수련원의 경우 학교에서 체험으로 가는 수가 줄어들어 그런 것 같다</a:t>
            </a:r>
            <a:r>
              <a:rPr lang="en-US" altLang="ko-KR" sz="1600" b="1" dirty="0"/>
              <a:t>.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비인기 관광지에 대한 개편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홍보가 더 이루어져야 할 것 같다</a:t>
            </a:r>
            <a:r>
              <a:rPr lang="en-US" altLang="ko-KR" sz="1600" b="1" dirty="0"/>
              <a:t>.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0549571-5ECA-5E31-06C1-1B59589A7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220" y="2102095"/>
            <a:ext cx="2727959" cy="214837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24407D-11CA-A223-008E-B81C8AB83E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78426" y="4654833"/>
            <a:ext cx="3236585" cy="201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06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9A26C3C-BEAB-F4DC-E00A-75A36B8F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1" cy="995589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 분석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E35413-D6E8-1E72-B6F7-2C2FC1A75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838" y="1222201"/>
            <a:ext cx="11744322" cy="2613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E3B5C1-F7F9-0035-07CD-EDB10318DC11}"/>
              </a:ext>
            </a:extLst>
          </p:cNvPr>
          <p:cNvSpPr txBox="1"/>
          <p:nvPr/>
        </p:nvSpPr>
        <p:spPr>
          <a:xfrm>
            <a:off x="581025" y="3970818"/>
            <a:ext cx="103822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전체적으로 </a:t>
            </a:r>
            <a:r>
              <a:rPr lang="ko-KR" altLang="en-US" dirty="0" err="1"/>
              <a:t>월정사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순위</a:t>
            </a:r>
            <a:r>
              <a:rPr lang="en-US" altLang="ko-KR" dirty="0"/>
              <a:t>, </a:t>
            </a:r>
            <a:r>
              <a:rPr lang="ko-KR" altLang="en-US" dirty="0" err="1"/>
              <a:t>용평리조트</a:t>
            </a:r>
            <a:r>
              <a:rPr lang="ko-KR" altLang="en-US" dirty="0"/>
              <a:t> 숙박시설이 </a:t>
            </a:r>
            <a:r>
              <a:rPr lang="en-US" altLang="ko-KR" dirty="0"/>
              <a:t>2</a:t>
            </a:r>
            <a:r>
              <a:rPr lang="ko-KR" altLang="en-US" dirty="0"/>
              <a:t>순위로 나타난다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FF0000"/>
                </a:solidFill>
              </a:rPr>
              <a:t>여름의 경우 </a:t>
            </a:r>
            <a:r>
              <a:rPr lang="ko-KR" altLang="en-US" b="1" dirty="0" err="1">
                <a:solidFill>
                  <a:srgbClr val="FF0000"/>
                </a:solidFill>
              </a:rPr>
              <a:t>휘닉스파크의</a:t>
            </a:r>
            <a:r>
              <a:rPr lang="ko-KR" altLang="en-US" b="1" dirty="0">
                <a:solidFill>
                  <a:srgbClr val="FF0000"/>
                </a:solidFill>
              </a:rPr>
              <a:t> 워터파크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숙박시설이 순위에 들었다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  <a:r>
              <a:rPr lang="ko-KR" altLang="en-US" b="1" dirty="0">
                <a:solidFill>
                  <a:srgbClr val="FF0000"/>
                </a:solidFill>
              </a:rPr>
              <a:t>여름의 더위를 식히기 위해 워터파크를 찾은 관광객이 증가한 이유일 것이다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0070C0"/>
                </a:solidFill>
              </a:rPr>
              <a:t>겨울의 경우 </a:t>
            </a:r>
            <a:r>
              <a:rPr lang="ko-KR" altLang="en-US" b="1" dirty="0" err="1">
                <a:solidFill>
                  <a:srgbClr val="0070C0"/>
                </a:solidFill>
              </a:rPr>
              <a:t>용평리조트의</a:t>
            </a:r>
            <a:r>
              <a:rPr lang="ko-KR" altLang="en-US" b="1" dirty="0">
                <a:solidFill>
                  <a:srgbClr val="0070C0"/>
                </a:solidFill>
              </a:rPr>
              <a:t> 스키장이 순위에 들었다</a:t>
            </a:r>
            <a:r>
              <a:rPr lang="en-US" altLang="ko-KR" b="1" dirty="0">
                <a:solidFill>
                  <a:srgbClr val="0070C0"/>
                </a:solidFill>
              </a:rPr>
              <a:t>.</a:t>
            </a:r>
            <a:r>
              <a:rPr lang="ko-KR" altLang="en-US" b="1" dirty="0">
                <a:solidFill>
                  <a:srgbClr val="0070C0"/>
                </a:solidFill>
              </a:rPr>
              <a:t> 겨울의 묘미인 스키장을 즐기기 위한 관광객 때문일 것이다</a:t>
            </a:r>
            <a:r>
              <a:rPr lang="en-US" altLang="ko-KR" b="1" dirty="0">
                <a:solidFill>
                  <a:srgbClr val="0070C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봄</a:t>
            </a:r>
            <a:r>
              <a:rPr lang="en-US" altLang="ko-KR" dirty="0"/>
              <a:t>, </a:t>
            </a:r>
            <a:r>
              <a:rPr lang="ko-KR" altLang="en-US" dirty="0"/>
              <a:t>가을의 경우 방학 시즌이 아니다 보니 기존 최고 평균 방문지의 결과와 유사하게 나왔다</a:t>
            </a:r>
            <a:r>
              <a:rPr lang="en-US" altLang="ko-KR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75890-5B29-A901-AE58-44C51B640227}"/>
              </a:ext>
            </a:extLst>
          </p:cNvPr>
          <p:cNvSpPr txBox="1"/>
          <p:nvPr/>
        </p:nvSpPr>
        <p:spPr>
          <a:xfrm>
            <a:off x="4552950" y="608997"/>
            <a:ext cx="652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시즌 별 </a:t>
            </a:r>
            <a:r>
              <a:rPr lang="ko-KR" altLang="en-US" b="1" dirty="0"/>
              <a:t>내국인 최고 </a:t>
            </a:r>
            <a:r>
              <a:rPr lang="ko-KR" altLang="en-US" dirty="0"/>
              <a:t>방문 관광지 비율 원그래프</a:t>
            </a:r>
          </a:p>
        </p:txBody>
      </p:sp>
    </p:spTree>
    <p:extLst>
      <p:ext uri="{BB962C8B-B14F-4D97-AF65-F5344CB8AC3E}">
        <p14:creationId xmlns:p14="http://schemas.microsoft.com/office/powerpoint/2010/main" val="203510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9A26C3C-BEAB-F4DC-E00A-75A36B8F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1" cy="995589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 분석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E35413-D6E8-1E72-B6F7-2C2FC1A75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838" y="1292322"/>
            <a:ext cx="11744322" cy="24729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E3B5C1-F7F9-0035-07CD-EDB10318DC11}"/>
              </a:ext>
            </a:extLst>
          </p:cNvPr>
          <p:cNvSpPr txBox="1"/>
          <p:nvPr/>
        </p:nvSpPr>
        <p:spPr>
          <a:xfrm>
            <a:off x="581024" y="3970818"/>
            <a:ext cx="111918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전체적으로 </a:t>
            </a:r>
            <a:r>
              <a:rPr lang="ko-KR" altLang="en-US" dirty="0" err="1"/>
              <a:t>월정사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순위</a:t>
            </a:r>
            <a:r>
              <a:rPr lang="en-US" altLang="ko-KR" dirty="0"/>
              <a:t>, </a:t>
            </a:r>
            <a:r>
              <a:rPr lang="ko-KR" altLang="en-US" dirty="0" err="1"/>
              <a:t>용평리조트</a:t>
            </a:r>
            <a:r>
              <a:rPr lang="ko-KR" altLang="en-US" dirty="0"/>
              <a:t> 숙박시설이 </a:t>
            </a:r>
            <a:r>
              <a:rPr lang="en-US" altLang="ko-KR" dirty="0"/>
              <a:t>2</a:t>
            </a:r>
            <a:r>
              <a:rPr lang="ko-KR" altLang="en-US" dirty="0"/>
              <a:t>순위로 나타난다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FF0000"/>
                </a:solidFill>
              </a:rPr>
              <a:t>여름의 경우 </a:t>
            </a:r>
            <a:r>
              <a:rPr lang="ko-KR" altLang="en-US" b="1" dirty="0" err="1">
                <a:solidFill>
                  <a:srgbClr val="FF0000"/>
                </a:solidFill>
              </a:rPr>
              <a:t>용평리조트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 err="1">
                <a:solidFill>
                  <a:srgbClr val="FF0000"/>
                </a:solidFill>
              </a:rPr>
              <a:t>휘닉스파크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 err="1">
                <a:solidFill>
                  <a:srgbClr val="FF0000"/>
                </a:solidFill>
              </a:rPr>
              <a:t>알펜시아의</a:t>
            </a:r>
            <a:r>
              <a:rPr lang="ko-KR" altLang="en-US" b="1" dirty="0">
                <a:solidFill>
                  <a:srgbClr val="FF0000"/>
                </a:solidFill>
              </a:rPr>
              <a:t> 스키장이 비시즌이여 선정됐고 이외에 청소년수련원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앵무새학교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물고기 생태관 등 최저 평균 관광지와 유사하다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0070C0"/>
                </a:solidFill>
              </a:rPr>
              <a:t>겨울의 경우 </a:t>
            </a:r>
            <a:r>
              <a:rPr lang="ko-KR" altLang="en-US" b="1" dirty="0" err="1">
                <a:solidFill>
                  <a:srgbClr val="0070C0"/>
                </a:solidFill>
              </a:rPr>
              <a:t>용평리조트</a:t>
            </a:r>
            <a:r>
              <a:rPr lang="en-US" altLang="ko-KR" b="1" dirty="0">
                <a:solidFill>
                  <a:srgbClr val="0070C0"/>
                </a:solidFill>
              </a:rPr>
              <a:t>, </a:t>
            </a:r>
            <a:r>
              <a:rPr lang="ko-KR" altLang="en-US" b="1" dirty="0" err="1">
                <a:solidFill>
                  <a:srgbClr val="0070C0"/>
                </a:solidFill>
              </a:rPr>
              <a:t>휘닉스파크</a:t>
            </a:r>
            <a:r>
              <a:rPr lang="en-US" altLang="ko-KR" b="1" dirty="0">
                <a:solidFill>
                  <a:srgbClr val="0070C0"/>
                </a:solidFill>
              </a:rPr>
              <a:t>, </a:t>
            </a:r>
            <a:r>
              <a:rPr lang="ko-KR" altLang="en-US" b="1" dirty="0" err="1">
                <a:solidFill>
                  <a:srgbClr val="0070C0"/>
                </a:solidFill>
              </a:rPr>
              <a:t>알펜시아의</a:t>
            </a:r>
            <a:r>
              <a:rPr lang="ko-KR" altLang="en-US" b="1" dirty="0">
                <a:solidFill>
                  <a:srgbClr val="0070C0"/>
                </a:solidFill>
              </a:rPr>
              <a:t> 골프장이 선정됐고 청소년 수련원</a:t>
            </a:r>
            <a:r>
              <a:rPr lang="en-US" altLang="ko-KR" b="1" dirty="0">
                <a:solidFill>
                  <a:srgbClr val="0070C0"/>
                </a:solidFill>
              </a:rPr>
              <a:t>, </a:t>
            </a:r>
            <a:r>
              <a:rPr lang="ko-KR" altLang="en-US" b="1" dirty="0">
                <a:solidFill>
                  <a:srgbClr val="0070C0"/>
                </a:solidFill>
              </a:rPr>
              <a:t>한국자생식물원</a:t>
            </a:r>
            <a:r>
              <a:rPr lang="en-US" altLang="ko-KR" b="1" dirty="0">
                <a:solidFill>
                  <a:srgbClr val="0070C0"/>
                </a:solidFill>
              </a:rPr>
              <a:t>, </a:t>
            </a:r>
            <a:r>
              <a:rPr lang="ko-KR" altLang="en-US" b="1" dirty="0">
                <a:solidFill>
                  <a:srgbClr val="0070C0"/>
                </a:solidFill>
              </a:rPr>
              <a:t>앵무새 학교 등 최저 평균 관광지와 유사하다</a:t>
            </a:r>
            <a:r>
              <a:rPr lang="en-US" altLang="ko-KR" b="1" dirty="0">
                <a:solidFill>
                  <a:srgbClr val="0070C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봄</a:t>
            </a:r>
            <a:r>
              <a:rPr lang="en-US" altLang="ko-KR" dirty="0"/>
              <a:t>, </a:t>
            </a:r>
            <a:r>
              <a:rPr lang="ko-KR" altLang="en-US" dirty="0"/>
              <a:t>가을의 경우 방학 기존 최저 평균 방문지 결과와 유사하게 선정됐다</a:t>
            </a:r>
            <a:r>
              <a:rPr lang="en-US" altLang="ko-KR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75890-5B29-A901-AE58-44C51B640227}"/>
              </a:ext>
            </a:extLst>
          </p:cNvPr>
          <p:cNvSpPr txBox="1"/>
          <p:nvPr/>
        </p:nvSpPr>
        <p:spPr>
          <a:xfrm>
            <a:off x="4552950" y="608997"/>
            <a:ext cx="541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시즌 별 </a:t>
            </a:r>
            <a:r>
              <a:rPr lang="ko-KR" altLang="en-US" b="1" dirty="0"/>
              <a:t>내국인 최저 </a:t>
            </a:r>
            <a:r>
              <a:rPr lang="ko-KR" altLang="en-US" dirty="0"/>
              <a:t>방문 관광지 비율 원그래프</a:t>
            </a:r>
          </a:p>
        </p:txBody>
      </p:sp>
    </p:spTree>
    <p:extLst>
      <p:ext uri="{BB962C8B-B14F-4D97-AF65-F5344CB8AC3E}">
        <p14:creationId xmlns:p14="http://schemas.microsoft.com/office/powerpoint/2010/main" val="317085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BE27E03-2344-EBD9-DB5C-242AFBF34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1" cy="995589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 분석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979B42-848F-BAD5-C33F-6EFC9E353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199" y="1271708"/>
            <a:ext cx="3094439" cy="25824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90ED9D-7441-FA37-A49B-CF28C24B2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03" y="3847560"/>
            <a:ext cx="3681015" cy="27592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2385A9-9E88-B253-A5AD-455EEE5E1235}"/>
              </a:ext>
            </a:extLst>
          </p:cNvPr>
          <p:cNvSpPr txBox="1"/>
          <p:nvPr/>
        </p:nvSpPr>
        <p:spPr>
          <a:xfrm>
            <a:off x="4663013" y="1537873"/>
            <a:ext cx="75289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최고 그래프 </a:t>
            </a:r>
            <a:r>
              <a:rPr lang="en-US" altLang="ko-KR" dirty="0"/>
              <a:t>: </a:t>
            </a:r>
            <a:r>
              <a:rPr lang="ko-KR" altLang="en-US" dirty="0"/>
              <a:t>내국인의 그래프와 전혀 다른 모습을 보여주고 있다</a:t>
            </a:r>
            <a:r>
              <a:rPr lang="en-US" altLang="ko-KR" dirty="0"/>
              <a:t>. </a:t>
            </a:r>
            <a:r>
              <a:rPr lang="ko-KR" altLang="en-US" b="1" dirty="0">
                <a:solidFill>
                  <a:srgbClr val="FF0000"/>
                </a:solidFill>
              </a:rPr>
              <a:t>내국인 최저 그래프에 나온 </a:t>
            </a:r>
            <a:r>
              <a:rPr lang="ko-KR" altLang="en-US" b="1" dirty="0" err="1">
                <a:solidFill>
                  <a:srgbClr val="FF0000"/>
                </a:solidFill>
              </a:rPr>
              <a:t>한국전통음식문화체험관이</a:t>
            </a:r>
            <a:r>
              <a:rPr lang="ko-KR" altLang="en-US" b="1" dirty="0">
                <a:solidFill>
                  <a:srgbClr val="FF0000"/>
                </a:solidFill>
              </a:rPr>
              <a:t> 외국인 인기 관광지로 선정</a:t>
            </a:r>
            <a:r>
              <a:rPr lang="ko-KR" altLang="en-US" dirty="0"/>
              <a:t>됐고</a:t>
            </a:r>
            <a:r>
              <a:rPr lang="en-US" altLang="ko-KR" dirty="0"/>
              <a:t>, </a:t>
            </a:r>
            <a:r>
              <a:rPr lang="ko-KR" altLang="en-US" dirty="0" err="1"/>
              <a:t>휘닉스파크</a:t>
            </a:r>
            <a:r>
              <a:rPr lang="en-US" altLang="ko-KR" dirty="0"/>
              <a:t>, </a:t>
            </a:r>
            <a:r>
              <a:rPr lang="ko-KR" altLang="en-US" dirty="0" err="1"/>
              <a:t>알펜시아</a:t>
            </a:r>
            <a:r>
              <a:rPr lang="en-US" altLang="ko-KR" dirty="0"/>
              <a:t>,</a:t>
            </a:r>
            <a:r>
              <a:rPr lang="ko-KR" altLang="en-US" dirty="0"/>
              <a:t> 허브나라 등 </a:t>
            </a:r>
            <a:r>
              <a:rPr lang="ko-KR" altLang="en-US" b="1" dirty="0">
                <a:solidFill>
                  <a:srgbClr val="FF0000"/>
                </a:solidFill>
              </a:rPr>
              <a:t>내국인 인기 관광지보다 다양하게 선정되는 모습이다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유일하게 </a:t>
            </a:r>
            <a:r>
              <a:rPr lang="ko-KR" altLang="en-US" b="1" dirty="0"/>
              <a:t>월정사가 내국인 최대 방문 관광지의 교집합</a:t>
            </a:r>
            <a:r>
              <a:rPr lang="ko-KR" altLang="en-US" dirty="0"/>
              <a:t>으로 선정됐다</a:t>
            </a:r>
            <a:r>
              <a:rPr lang="en-US" altLang="ko-KR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A54EB8-22FB-AA91-D1D1-41F046428D74}"/>
              </a:ext>
            </a:extLst>
          </p:cNvPr>
          <p:cNvSpPr txBox="1"/>
          <p:nvPr/>
        </p:nvSpPr>
        <p:spPr>
          <a:xfrm>
            <a:off x="4554583" y="4284617"/>
            <a:ext cx="7354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최저 그래프 </a:t>
            </a:r>
            <a:r>
              <a:rPr lang="en-US" altLang="ko-KR" dirty="0"/>
              <a:t>: </a:t>
            </a:r>
            <a:r>
              <a:rPr lang="ko-KR" altLang="en-US" dirty="0"/>
              <a:t>총 관광지 수의 </a:t>
            </a:r>
            <a:r>
              <a:rPr lang="en-US" altLang="ko-KR" dirty="0"/>
              <a:t>70% </a:t>
            </a:r>
            <a:r>
              <a:rPr lang="ko-KR" altLang="en-US" dirty="0"/>
              <a:t>이상이 선정됐다</a:t>
            </a:r>
            <a:r>
              <a:rPr lang="en-US" altLang="ko-KR" dirty="0"/>
              <a:t>.  </a:t>
            </a:r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외국인 관광객을 늘리기 위해 홍보와 관광지 프로그램 개선이 필요할 것 같다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D7830F3-5606-34E4-62D3-1BD2931E6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793" y="5320126"/>
            <a:ext cx="4836587" cy="9955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E257C9-C1D5-EDC8-1B1B-46356F397FCD}"/>
              </a:ext>
            </a:extLst>
          </p:cNvPr>
          <p:cNvSpPr txBox="1"/>
          <p:nvPr/>
        </p:nvSpPr>
        <p:spPr>
          <a:xfrm>
            <a:off x="4593345" y="674500"/>
            <a:ext cx="7354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연도별 </a:t>
            </a:r>
            <a:r>
              <a:rPr lang="ko-KR" altLang="en-US" b="1" dirty="0"/>
              <a:t>외국인</a:t>
            </a:r>
            <a:r>
              <a:rPr lang="ko-KR" altLang="en-US" dirty="0"/>
              <a:t> 최고</a:t>
            </a:r>
            <a:r>
              <a:rPr lang="en-US" altLang="ko-KR" dirty="0"/>
              <a:t>, </a:t>
            </a:r>
            <a:r>
              <a:rPr lang="ko-KR" altLang="en-US" dirty="0"/>
              <a:t>최저 평균 방문 관광지 선정 빈도를 원그래프</a:t>
            </a: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A1D4F24-ED08-80F5-A1F0-7E800A26B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8793" y="2957446"/>
            <a:ext cx="3734321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89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3BEC45A-C123-E7BA-9141-20A88B776623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515601" cy="995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2. </a:t>
            </a:r>
            <a:r>
              <a:rPr lang="ko-KR" altLang="en-US"/>
              <a:t>데이터 분석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EF0A812-2C54-F0B9-C68A-F0A53E119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360714"/>
            <a:ext cx="2667885" cy="2602214"/>
          </a:xfrm>
          <a:prstGeom prst="rect">
            <a:avLst/>
          </a:prstGeom>
        </p:spPr>
      </p:pic>
      <p:pic>
        <p:nvPicPr>
          <p:cNvPr id="9" name="그림 8" descr="광장이(가) 표시된 사진&#10;&#10;자동 생성된 설명">
            <a:extLst>
              <a:ext uri="{FF2B5EF4-FFF2-40B4-BE49-F238E27FC236}">
                <a16:creationId xmlns:a16="http://schemas.microsoft.com/office/drawing/2014/main" id="{475F6CE7-F838-C9C9-5CEC-3263F9F4BD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962928"/>
            <a:ext cx="2732774" cy="27588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DB8F83-3730-C1C5-C60E-D20C2D53C077}"/>
              </a:ext>
            </a:extLst>
          </p:cNvPr>
          <p:cNvSpPr txBox="1"/>
          <p:nvPr/>
        </p:nvSpPr>
        <p:spPr>
          <a:xfrm>
            <a:off x="4663012" y="1346723"/>
            <a:ext cx="735481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최고 그래프 </a:t>
            </a:r>
            <a:r>
              <a:rPr lang="en-US" altLang="ko-KR" sz="1600" dirty="0"/>
              <a:t>: </a:t>
            </a:r>
            <a:r>
              <a:rPr lang="en-US" altLang="ko-KR" sz="1600" b="1" dirty="0">
                <a:solidFill>
                  <a:srgbClr val="FF0000"/>
                </a:solidFill>
              </a:rPr>
              <a:t>2013</a:t>
            </a:r>
            <a:r>
              <a:rPr lang="ko-KR" altLang="en-US" sz="1600" b="1" dirty="0">
                <a:solidFill>
                  <a:srgbClr val="FF0000"/>
                </a:solidFill>
              </a:rPr>
              <a:t>년도 기준으로 급감하는 추세를 보이고 이후 외국인의 방문이 현격히 줄어든 모습이다</a:t>
            </a:r>
            <a:r>
              <a:rPr lang="en-US" altLang="ko-KR" sz="1600" b="1" dirty="0">
                <a:solidFill>
                  <a:srgbClr val="FF0000"/>
                </a:solidFill>
              </a:rPr>
              <a:t>. </a:t>
            </a:r>
          </a:p>
          <a:p>
            <a:pPr marL="3943350" lvl="8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FF0000"/>
                </a:solidFill>
              </a:rPr>
              <a:t>2012</a:t>
            </a:r>
            <a:r>
              <a:rPr lang="ko-KR" altLang="en-US" sz="1600" b="1" dirty="0">
                <a:solidFill>
                  <a:srgbClr val="FF0000"/>
                </a:solidFill>
              </a:rPr>
              <a:t>년까진 </a:t>
            </a:r>
            <a:r>
              <a:rPr lang="ko-KR" altLang="en-US" sz="1600" b="1" dirty="0" err="1">
                <a:solidFill>
                  <a:srgbClr val="FF0000"/>
                </a:solidFill>
              </a:rPr>
              <a:t>휘닉스파크</a:t>
            </a:r>
            <a:r>
              <a:rPr lang="ko-KR" altLang="en-US" sz="1600" b="1" dirty="0">
                <a:solidFill>
                  <a:srgbClr val="FF0000"/>
                </a:solidFill>
              </a:rPr>
              <a:t> 숙박시설이 집계가 되었지만 </a:t>
            </a:r>
            <a:r>
              <a:rPr lang="en-US" altLang="ko-KR" sz="1600" b="1" dirty="0">
                <a:solidFill>
                  <a:srgbClr val="FF0000"/>
                </a:solidFill>
              </a:rPr>
              <a:t>2013</a:t>
            </a:r>
            <a:r>
              <a:rPr lang="ko-KR" altLang="en-US" sz="1600" b="1" dirty="0">
                <a:solidFill>
                  <a:srgbClr val="FF0000"/>
                </a:solidFill>
              </a:rPr>
              <a:t>년 이후부터 집계되지 않았다</a:t>
            </a:r>
            <a:r>
              <a:rPr lang="en-US" altLang="ko-KR" sz="1600" b="1" dirty="0">
                <a:solidFill>
                  <a:srgbClr val="FF0000"/>
                </a:solidFill>
              </a:rPr>
              <a:t>.</a:t>
            </a:r>
          </a:p>
          <a:p>
            <a:pPr marL="3943350" lvl="8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내국인 집계와 비슷한 추세를 보이고 만약 </a:t>
            </a:r>
            <a:r>
              <a:rPr lang="ko-KR" altLang="en-US" sz="1600" b="1" dirty="0" err="1"/>
              <a:t>휘닉스파크</a:t>
            </a:r>
            <a:r>
              <a:rPr lang="ko-KR" altLang="en-US" sz="1600" b="1" dirty="0"/>
              <a:t> 숙박시설이 집계되었다면 결과가 달라졌을 것 같다</a:t>
            </a:r>
            <a:r>
              <a:rPr lang="en-US" altLang="ko-KR" sz="1600" b="1" dirty="0"/>
              <a:t>.</a:t>
            </a:r>
          </a:p>
          <a:p>
            <a:pPr lvl="8"/>
            <a:endParaRPr lang="en-US" altLang="ko-KR" sz="1600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D612E22-F8E8-519D-A60F-88E137C87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219" y="2064243"/>
            <a:ext cx="3350503" cy="186673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70917DF-3DC8-C8B2-C3D2-17E6D808AC81}"/>
              </a:ext>
            </a:extLst>
          </p:cNvPr>
          <p:cNvSpPr txBox="1"/>
          <p:nvPr/>
        </p:nvSpPr>
        <p:spPr>
          <a:xfrm>
            <a:off x="4663012" y="4357115"/>
            <a:ext cx="76432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최저 그래프 </a:t>
            </a:r>
            <a:r>
              <a:rPr lang="en-US" altLang="ko-KR" sz="1600" dirty="0"/>
              <a:t>: </a:t>
            </a:r>
            <a:r>
              <a:rPr lang="en-US" altLang="ko-KR" sz="1600" b="1" dirty="0"/>
              <a:t>2016</a:t>
            </a:r>
            <a:r>
              <a:rPr lang="ko-KR" altLang="en-US" sz="1600" b="1" dirty="0"/>
              <a:t>년도부터 방문을 하지 않는 관광지가 생겼다</a:t>
            </a:r>
            <a:r>
              <a:rPr lang="en-US" altLang="ko-KR" sz="1600" b="1" dirty="0"/>
              <a:t>.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endParaRPr lang="en-US" altLang="ko-KR" sz="1600" b="1" dirty="0"/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방문이 없는 관광지 중 </a:t>
            </a:r>
            <a:r>
              <a:rPr lang="en-US" altLang="ko-KR" sz="1600" b="1" dirty="0"/>
              <a:t>: </a:t>
            </a:r>
            <a:r>
              <a:rPr lang="ko-KR" altLang="en-US" sz="1600" b="1" dirty="0">
                <a:solidFill>
                  <a:srgbClr val="FF0000"/>
                </a:solidFill>
              </a:rPr>
              <a:t>오대산청소년수련원은 </a:t>
            </a:r>
            <a:r>
              <a:rPr lang="en-US" altLang="ko-KR" sz="1600" b="1" dirty="0">
                <a:solidFill>
                  <a:srgbClr val="FF0000"/>
                </a:solidFill>
              </a:rPr>
              <a:t>5</a:t>
            </a:r>
            <a:r>
              <a:rPr lang="ko-KR" altLang="en-US" sz="1600" b="1" dirty="0">
                <a:solidFill>
                  <a:srgbClr val="FF0000"/>
                </a:solidFill>
              </a:rPr>
              <a:t>년간 평창물고기생태관</a:t>
            </a:r>
            <a:r>
              <a:rPr lang="en-US" altLang="ko-KR" sz="1600" b="1" dirty="0">
                <a:solidFill>
                  <a:srgbClr val="FF0000"/>
                </a:solidFill>
              </a:rPr>
              <a:t>(2), </a:t>
            </a:r>
            <a:r>
              <a:rPr lang="ko-KR" altLang="en-US" sz="1600" b="1" dirty="0">
                <a:solidFill>
                  <a:srgbClr val="FF0000"/>
                </a:solidFill>
              </a:rPr>
              <a:t>앵무새학교</a:t>
            </a:r>
            <a:r>
              <a:rPr lang="en-US" altLang="ko-KR" sz="1600" b="1" dirty="0">
                <a:solidFill>
                  <a:srgbClr val="FF0000"/>
                </a:solidFill>
              </a:rPr>
              <a:t>(2), </a:t>
            </a:r>
            <a:r>
              <a:rPr lang="ko-KR" altLang="en-US" sz="1600" b="1" dirty="0">
                <a:solidFill>
                  <a:srgbClr val="FF0000"/>
                </a:solidFill>
              </a:rPr>
              <a:t>이외 </a:t>
            </a:r>
            <a:r>
              <a:rPr lang="en-US" altLang="ko-KR" sz="1600" b="1" dirty="0">
                <a:solidFill>
                  <a:srgbClr val="FF0000"/>
                </a:solidFill>
              </a:rPr>
              <a:t>1</a:t>
            </a:r>
            <a:r>
              <a:rPr lang="ko-KR" altLang="en-US" sz="1600" b="1" dirty="0">
                <a:solidFill>
                  <a:srgbClr val="FF0000"/>
                </a:solidFill>
              </a:rPr>
              <a:t>년 씩 선정 되었다</a:t>
            </a:r>
            <a:r>
              <a:rPr lang="en-US" altLang="ko-KR" sz="1600" b="1" dirty="0">
                <a:solidFill>
                  <a:srgbClr val="FF0000"/>
                </a:solidFill>
              </a:rPr>
              <a:t>.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오대산청소년수련원의 경우 학교에서 체험으로 가는 수가 줄어들어 그런 것 같다</a:t>
            </a:r>
            <a:r>
              <a:rPr lang="en-US" altLang="ko-KR" sz="1600" b="1" dirty="0"/>
              <a:t>.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비인기 관광지에 대한 개편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홍보가 더 이루어져야 할 것 같다</a:t>
            </a:r>
            <a:r>
              <a:rPr lang="en-US" altLang="ko-KR" sz="1600" b="1" dirty="0"/>
              <a:t>.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C76F70F-E9EC-A36D-C0C5-057AFCFF73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4861" y="4882866"/>
            <a:ext cx="2732774" cy="161811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6DB55BC-051F-4472-2AA3-DE37B6E3FA65}"/>
              </a:ext>
            </a:extLst>
          </p:cNvPr>
          <p:cNvSpPr txBox="1"/>
          <p:nvPr/>
        </p:nvSpPr>
        <p:spPr>
          <a:xfrm>
            <a:off x="4663012" y="671258"/>
            <a:ext cx="524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연도별 </a:t>
            </a:r>
            <a:r>
              <a:rPr lang="ko-KR" altLang="en-US" b="1" dirty="0"/>
              <a:t>외국인 최고</a:t>
            </a:r>
            <a:r>
              <a:rPr lang="en-US" altLang="ko-KR" b="1" dirty="0"/>
              <a:t>, </a:t>
            </a:r>
            <a:r>
              <a:rPr lang="ko-KR" altLang="en-US" b="1" dirty="0"/>
              <a:t>최저 </a:t>
            </a:r>
            <a:r>
              <a:rPr lang="ko-KR" altLang="en-US" dirty="0"/>
              <a:t>평균 방문 수 선그래프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0077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9A26C3C-BEAB-F4DC-E00A-75A36B8F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1" cy="995589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 분석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E35413-D6E8-1E72-B6F7-2C2FC1A75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690" y="1360714"/>
            <a:ext cx="11096110" cy="23994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E3B5C1-F7F9-0035-07CD-EDB10318DC11}"/>
              </a:ext>
            </a:extLst>
          </p:cNvPr>
          <p:cNvSpPr txBox="1"/>
          <p:nvPr/>
        </p:nvSpPr>
        <p:spPr>
          <a:xfrm>
            <a:off x="581025" y="3970818"/>
            <a:ext cx="110961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전체적으로 한국전통음식문화체험관</a:t>
            </a:r>
            <a:r>
              <a:rPr lang="en-US" altLang="ko-KR" b="1" dirty="0"/>
              <a:t>, </a:t>
            </a:r>
            <a:r>
              <a:rPr lang="ko-KR" altLang="en-US" b="1" dirty="0"/>
              <a:t>허브나라</a:t>
            </a:r>
            <a:r>
              <a:rPr lang="en-US" altLang="ko-KR" b="1" dirty="0"/>
              <a:t>, </a:t>
            </a:r>
            <a:r>
              <a:rPr lang="ko-KR" altLang="en-US" b="1" dirty="0" err="1"/>
              <a:t>휘닉스파크</a:t>
            </a:r>
            <a:r>
              <a:rPr lang="ko-KR" altLang="en-US" b="1" dirty="0"/>
              <a:t> </a:t>
            </a:r>
            <a:r>
              <a:rPr lang="ko-KR" altLang="en-US" b="1" dirty="0" err="1"/>
              <a:t>숙박시설는</a:t>
            </a:r>
            <a:r>
              <a:rPr lang="ko-KR" altLang="en-US" b="1" dirty="0"/>
              <a:t> 꾸준하게 순위에 든 모습이다</a:t>
            </a:r>
            <a:r>
              <a:rPr lang="en-US" altLang="ko-KR" b="1" dirty="0"/>
              <a:t>.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FF0000"/>
                </a:solidFill>
              </a:rPr>
              <a:t>여름의 경우 </a:t>
            </a:r>
            <a:r>
              <a:rPr lang="ko-KR" altLang="en-US" b="1" dirty="0" err="1">
                <a:solidFill>
                  <a:srgbClr val="FF0000"/>
                </a:solidFill>
              </a:rPr>
              <a:t>휘닉스파크</a:t>
            </a:r>
            <a:r>
              <a:rPr lang="ko-KR" altLang="en-US" b="1" dirty="0">
                <a:solidFill>
                  <a:srgbClr val="FF0000"/>
                </a:solidFill>
              </a:rPr>
              <a:t> 숙박시설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한국전통음식문화체험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 err="1">
                <a:solidFill>
                  <a:srgbClr val="FF0000"/>
                </a:solidFill>
              </a:rPr>
              <a:t>오션</a:t>
            </a:r>
            <a:r>
              <a:rPr lang="en-US" altLang="ko-KR" b="1" dirty="0">
                <a:solidFill>
                  <a:srgbClr val="FF0000"/>
                </a:solidFill>
              </a:rPr>
              <a:t>700</a:t>
            </a:r>
            <a:r>
              <a:rPr lang="ko-KR" altLang="en-US" b="1" dirty="0">
                <a:solidFill>
                  <a:srgbClr val="FF0000"/>
                </a:solidFill>
              </a:rPr>
              <a:t>이 순위에 들었는데 여름의 묘미인 워터파크를 찾은 관광객이 증가했다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0070C0"/>
                </a:solidFill>
              </a:rPr>
              <a:t>겨울의 경우 </a:t>
            </a:r>
            <a:r>
              <a:rPr lang="ko-KR" altLang="en-US" b="1" dirty="0" err="1">
                <a:solidFill>
                  <a:srgbClr val="0070C0"/>
                </a:solidFill>
              </a:rPr>
              <a:t>용평리조트의</a:t>
            </a:r>
            <a:r>
              <a:rPr lang="ko-KR" altLang="en-US" b="1" dirty="0">
                <a:solidFill>
                  <a:srgbClr val="0070C0"/>
                </a:solidFill>
              </a:rPr>
              <a:t> 스키장이 순위에 들었고 겨울의 묘미인 스키장을 즐기기 위한 관광객이 증가했다</a:t>
            </a:r>
            <a:r>
              <a:rPr lang="en-US" altLang="ko-KR" b="1" dirty="0">
                <a:solidFill>
                  <a:srgbClr val="0070C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봄의 경우 기존 최고 평균 방문지의 결과와 유사하게 나왔다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가을은 다양한 관광지가 선정되었다</a:t>
            </a:r>
            <a:r>
              <a:rPr lang="en-US" altLang="ko-KR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75890-5B29-A901-AE58-44C51B640227}"/>
              </a:ext>
            </a:extLst>
          </p:cNvPr>
          <p:cNvSpPr txBox="1"/>
          <p:nvPr/>
        </p:nvSpPr>
        <p:spPr>
          <a:xfrm>
            <a:off x="4552950" y="608997"/>
            <a:ext cx="652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시즌 별 </a:t>
            </a:r>
            <a:r>
              <a:rPr lang="ko-KR" altLang="en-US" b="1" dirty="0"/>
              <a:t>외국인 최고 </a:t>
            </a:r>
            <a:r>
              <a:rPr lang="ko-KR" altLang="en-US" dirty="0"/>
              <a:t>방문 관광지 비율 원그래프</a:t>
            </a:r>
          </a:p>
        </p:txBody>
      </p:sp>
    </p:spTree>
    <p:extLst>
      <p:ext uri="{BB962C8B-B14F-4D97-AF65-F5344CB8AC3E}">
        <p14:creationId xmlns:p14="http://schemas.microsoft.com/office/powerpoint/2010/main" val="2086693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9A26C3C-BEAB-F4DC-E00A-75A36B8F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1" cy="995589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 분석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E35413-D6E8-1E72-B6F7-2C2FC1A75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838" y="1287235"/>
            <a:ext cx="11744322" cy="24831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E3B5C1-F7F9-0035-07CD-EDB10318DC11}"/>
              </a:ext>
            </a:extLst>
          </p:cNvPr>
          <p:cNvSpPr txBox="1"/>
          <p:nvPr/>
        </p:nvSpPr>
        <p:spPr>
          <a:xfrm>
            <a:off x="581025" y="3871964"/>
            <a:ext cx="11387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전체적으로 최저 평균 그래프에 선정된 장소가 선정됐다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외국인 최저 방문 관광지는 시즌에 상관없이 대부분의 관광지가 선정됐다</a:t>
            </a:r>
            <a:r>
              <a:rPr lang="en-US" altLang="ko-KR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외국인에 대한 관광지 홍보가 필요할 것 같다</a:t>
            </a:r>
            <a:r>
              <a:rPr lang="en-US" altLang="ko-KR" b="1" dirty="0"/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75890-5B29-A901-AE58-44C51B640227}"/>
              </a:ext>
            </a:extLst>
          </p:cNvPr>
          <p:cNvSpPr txBox="1"/>
          <p:nvPr/>
        </p:nvSpPr>
        <p:spPr>
          <a:xfrm>
            <a:off x="4552950" y="608997"/>
            <a:ext cx="652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시즌 별 </a:t>
            </a:r>
            <a:r>
              <a:rPr lang="ko-KR" altLang="en-US" b="1" dirty="0"/>
              <a:t>외국인 최저 </a:t>
            </a:r>
            <a:r>
              <a:rPr lang="ko-KR" altLang="en-US" dirty="0"/>
              <a:t>방문 관광지 비율 원그래프</a:t>
            </a:r>
          </a:p>
        </p:txBody>
      </p:sp>
    </p:spTree>
    <p:extLst>
      <p:ext uri="{BB962C8B-B14F-4D97-AF65-F5344CB8AC3E}">
        <p14:creationId xmlns:p14="http://schemas.microsoft.com/office/powerpoint/2010/main" val="2407431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F899D1F-4434-E717-2B17-11AE918EDFFA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515601" cy="995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3. </a:t>
            </a:r>
            <a:r>
              <a:rPr lang="ko-KR" altLang="en-US" dirty="0"/>
              <a:t>결론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F25FC9-32D3-B1CF-2677-C0FBAA15BF7F}"/>
              </a:ext>
            </a:extLst>
          </p:cNvPr>
          <p:cNvSpPr txBox="1"/>
          <p:nvPr/>
        </p:nvSpPr>
        <p:spPr>
          <a:xfrm>
            <a:off x="838199" y="1507523"/>
            <a:ext cx="106391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용평리조트</a:t>
            </a:r>
            <a:r>
              <a:rPr lang="en-US" altLang="ko-KR" dirty="0"/>
              <a:t>,</a:t>
            </a:r>
            <a:r>
              <a:rPr lang="ko-KR" altLang="en-US" dirty="0"/>
              <a:t> 월정사가 </a:t>
            </a:r>
            <a:r>
              <a:rPr lang="ko-KR" altLang="en-US" b="1" dirty="0"/>
              <a:t>내국인</a:t>
            </a:r>
            <a:r>
              <a:rPr lang="ko-KR" altLang="en-US" dirty="0"/>
              <a:t>에게 인기를 끌고 있다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ko-KR" altLang="en-US" b="1" dirty="0"/>
              <a:t>데이터 셋에 </a:t>
            </a:r>
            <a:r>
              <a:rPr lang="ko-KR" altLang="en-US" b="1" dirty="0" err="1"/>
              <a:t>용평리조트가</a:t>
            </a:r>
            <a:r>
              <a:rPr lang="ko-KR" altLang="en-US" b="1" dirty="0"/>
              <a:t> 연도 마다 존재하지 않아 절대적이지 않다</a:t>
            </a:r>
            <a:r>
              <a:rPr lang="en-US" altLang="ko-KR" b="1" dirty="0"/>
              <a:t>. </a:t>
            </a:r>
            <a:r>
              <a:rPr lang="ko-KR" altLang="en-US" b="1" dirty="0"/>
              <a:t>따라서 </a:t>
            </a:r>
            <a:r>
              <a:rPr lang="ko-KR" altLang="en-US" b="1" dirty="0" err="1"/>
              <a:t>용평리조트가</a:t>
            </a:r>
            <a:r>
              <a:rPr lang="ko-KR" altLang="en-US" b="1" dirty="0"/>
              <a:t> </a:t>
            </a:r>
            <a:r>
              <a:rPr lang="en-US" altLang="ko-KR" b="1" dirty="0"/>
              <a:t>2012</a:t>
            </a:r>
            <a:r>
              <a:rPr lang="ko-KR" altLang="en-US" b="1" dirty="0"/>
              <a:t>년까지 </a:t>
            </a:r>
            <a:r>
              <a:rPr lang="en-US" altLang="ko-KR" b="1" dirty="0"/>
              <a:t>1</a:t>
            </a:r>
            <a:r>
              <a:rPr lang="ko-KR" altLang="en-US" b="1" dirty="0"/>
              <a:t>순위 였지만 월정사가 이후 </a:t>
            </a:r>
            <a:r>
              <a:rPr lang="en-US" altLang="ko-KR" b="1" dirty="0"/>
              <a:t>1</a:t>
            </a:r>
            <a:r>
              <a:rPr lang="ko-KR" altLang="en-US" b="1" dirty="0"/>
              <a:t>순위를 차지했다</a:t>
            </a:r>
            <a:r>
              <a:rPr lang="en-US" altLang="ko-KR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동물 관련 관광지</a:t>
            </a:r>
            <a:r>
              <a:rPr lang="en-US" altLang="ko-KR" dirty="0"/>
              <a:t>, </a:t>
            </a:r>
            <a:r>
              <a:rPr lang="ko-KR" altLang="en-US" dirty="0"/>
              <a:t>청소년 수련관</a:t>
            </a:r>
            <a:r>
              <a:rPr lang="en-US" altLang="ko-KR" dirty="0"/>
              <a:t>, </a:t>
            </a:r>
            <a:r>
              <a:rPr lang="ko-KR" altLang="en-US" dirty="0"/>
              <a:t>한국전통음식문화체험관 등 </a:t>
            </a:r>
            <a:r>
              <a:rPr lang="ko-KR" altLang="en-US" b="1" dirty="0"/>
              <a:t>내국인</a:t>
            </a:r>
            <a:r>
              <a:rPr lang="ko-KR" altLang="en-US" dirty="0"/>
              <a:t>에게 인기가 없다</a:t>
            </a:r>
            <a:r>
              <a:rPr lang="en-US" altLang="ko-KR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 err="1"/>
              <a:t>한국전통음식문화체험관은</a:t>
            </a:r>
            <a:r>
              <a:rPr lang="ko-KR" altLang="en-US" b="1" dirty="0"/>
              <a:t> 내국인에게 인기 없는 관광지이지만 외국인이 많이 찾는 관광지이다</a:t>
            </a:r>
            <a:r>
              <a:rPr lang="en-US" altLang="ko-KR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00B050"/>
                </a:solidFill>
              </a:rPr>
              <a:t>외국인은 허브나라</a:t>
            </a:r>
            <a:r>
              <a:rPr lang="en-US" altLang="ko-KR" b="1" dirty="0">
                <a:solidFill>
                  <a:srgbClr val="00B050"/>
                </a:solidFill>
              </a:rPr>
              <a:t>, </a:t>
            </a:r>
            <a:r>
              <a:rPr lang="ko-KR" altLang="en-US" b="1" dirty="0">
                <a:solidFill>
                  <a:srgbClr val="00B050"/>
                </a:solidFill>
              </a:rPr>
              <a:t>한국전통문화체험관</a:t>
            </a:r>
            <a:r>
              <a:rPr lang="en-US" altLang="ko-KR" b="1" dirty="0">
                <a:solidFill>
                  <a:srgbClr val="00B050"/>
                </a:solidFill>
              </a:rPr>
              <a:t>, </a:t>
            </a:r>
            <a:r>
              <a:rPr lang="ko-KR" altLang="en-US" b="1" dirty="0" err="1">
                <a:solidFill>
                  <a:srgbClr val="00B050"/>
                </a:solidFill>
              </a:rPr>
              <a:t>휘닉스파크</a:t>
            </a:r>
            <a:r>
              <a:rPr lang="en-US" altLang="ko-KR" b="1" dirty="0">
                <a:solidFill>
                  <a:srgbClr val="00B050"/>
                </a:solidFill>
              </a:rPr>
              <a:t>, </a:t>
            </a:r>
            <a:r>
              <a:rPr lang="ko-KR" altLang="en-US" b="1" dirty="0">
                <a:solidFill>
                  <a:srgbClr val="00B050"/>
                </a:solidFill>
              </a:rPr>
              <a:t>등 다양한 관광지를 찾지만 </a:t>
            </a:r>
            <a:r>
              <a:rPr lang="ko-KR" altLang="en-US" b="1" dirty="0">
                <a:solidFill>
                  <a:srgbClr val="00B0F0"/>
                </a:solidFill>
              </a:rPr>
              <a:t>내국인의 경우 </a:t>
            </a:r>
            <a:r>
              <a:rPr lang="ko-KR" altLang="en-US" b="1" dirty="0" err="1">
                <a:solidFill>
                  <a:srgbClr val="00B0F0"/>
                </a:solidFill>
              </a:rPr>
              <a:t>월정사</a:t>
            </a:r>
            <a:r>
              <a:rPr lang="en-US" altLang="ko-KR" b="1" dirty="0">
                <a:solidFill>
                  <a:srgbClr val="00B0F0"/>
                </a:solidFill>
              </a:rPr>
              <a:t>, </a:t>
            </a:r>
            <a:r>
              <a:rPr lang="ko-KR" altLang="en-US" b="1" dirty="0" err="1">
                <a:solidFill>
                  <a:srgbClr val="00B0F0"/>
                </a:solidFill>
              </a:rPr>
              <a:t>용평리조트가</a:t>
            </a:r>
            <a:r>
              <a:rPr lang="ko-KR" altLang="en-US" b="1" dirty="0">
                <a:solidFill>
                  <a:srgbClr val="00B0F0"/>
                </a:solidFill>
              </a:rPr>
              <a:t> 큰 비중을 차지</a:t>
            </a:r>
            <a:r>
              <a:rPr lang="ko-KR" altLang="en-US" b="1" dirty="0"/>
              <a:t>했다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472764-F958-B1B8-AA2D-13E41B07EB44}"/>
              </a:ext>
            </a:extLst>
          </p:cNvPr>
          <p:cNvSpPr txBox="1"/>
          <p:nvPr/>
        </p:nvSpPr>
        <p:spPr>
          <a:xfrm>
            <a:off x="838198" y="4473314"/>
            <a:ext cx="106391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내국인</a:t>
            </a:r>
            <a:r>
              <a:rPr lang="en-US" altLang="ko-KR" b="1" dirty="0"/>
              <a:t>, </a:t>
            </a:r>
            <a:r>
              <a:rPr lang="ko-KR" altLang="en-US" b="1" dirty="0"/>
              <a:t>외국인 모두 </a:t>
            </a:r>
            <a:r>
              <a:rPr lang="ko-KR" altLang="en-US" b="1" dirty="0">
                <a:solidFill>
                  <a:srgbClr val="FF0000"/>
                </a:solidFill>
              </a:rPr>
              <a:t>여름에 워터파크 </a:t>
            </a:r>
            <a:r>
              <a:rPr lang="ko-KR" altLang="en-US" b="1" dirty="0"/>
              <a:t>관광지를 많이 찾고</a:t>
            </a:r>
            <a:r>
              <a:rPr lang="en-US" altLang="ko-KR" b="1" dirty="0">
                <a:solidFill>
                  <a:srgbClr val="0070C0"/>
                </a:solidFill>
              </a:rPr>
              <a:t>, </a:t>
            </a:r>
            <a:r>
              <a:rPr lang="ko-KR" altLang="en-US" b="1" dirty="0">
                <a:solidFill>
                  <a:srgbClr val="0070C0"/>
                </a:solidFill>
              </a:rPr>
              <a:t>겨울엔 스키장</a:t>
            </a:r>
            <a:r>
              <a:rPr lang="ko-KR" altLang="en-US" b="1" dirty="0"/>
              <a:t>을 많이 찾는다</a:t>
            </a:r>
            <a:r>
              <a:rPr lang="en-US" altLang="ko-KR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내</a:t>
            </a:r>
            <a:r>
              <a:rPr lang="en-US" altLang="ko-KR" b="1" dirty="0"/>
              <a:t>, </a:t>
            </a:r>
            <a:r>
              <a:rPr lang="ko-KR" altLang="en-US" b="1" dirty="0"/>
              <a:t>외국인의 </a:t>
            </a:r>
            <a:r>
              <a:rPr lang="ko-KR" altLang="en-US" b="1" dirty="0">
                <a:solidFill>
                  <a:srgbClr val="FFC000"/>
                </a:solidFill>
              </a:rPr>
              <a:t>봄</a:t>
            </a:r>
            <a:r>
              <a:rPr lang="ko-KR" altLang="en-US" b="1" dirty="0"/>
              <a:t>에는 평균적으로 인기있는 관광지를 많이 찾는다</a:t>
            </a:r>
            <a:r>
              <a:rPr lang="en-US" altLang="ko-KR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내국인의 가을은 평균적으로 인기있는 관광지를 찾는 반면 </a:t>
            </a:r>
            <a:r>
              <a:rPr lang="ko-KR" altLang="en-US" b="1" dirty="0">
                <a:solidFill>
                  <a:srgbClr val="00B0F0"/>
                </a:solidFill>
              </a:rPr>
              <a:t>외국인은 인기</a:t>
            </a:r>
            <a:r>
              <a:rPr lang="en-US" altLang="ko-KR" b="1" dirty="0">
                <a:solidFill>
                  <a:srgbClr val="00B0F0"/>
                </a:solidFill>
              </a:rPr>
              <a:t>, </a:t>
            </a:r>
            <a:r>
              <a:rPr lang="ko-KR" altLang="en-US" b="1" dirty="0">
                <a:solidFill>
                  <a:srgbClr val="00B0F0"/>
                </a:solidFill>
              </a:rPr>
              <a:t>비인기 관광지 모두 선정되었는데 이는 외국인이 가을에 많이 관광을 하러 오지 않는 다는 뜻이 될 수 있다</a:t>
            </a:r>
            <a:r>
              <a:rPr lang="en-US" altLang="ko-KR" b="1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4865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1188</Words>
  <Application>Microsoft Office PowerPoint</Application>
  <PresentationFormat>와이드스크린</PresentationFormat>
  <Paragraphs>98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강원도 평창군 관광객 데이터 분석</vt:lpstr>
      <vt:lpstr>1. 데이터 전처리</vt:lpstr>
      <vt:lpstr>2. 데이터 분석</vt:lpstr>
      <vt:lpstr>2. 데이터 분석</vt:lpstr>
      <vt:lpstr>2. 데이터 분석</vt:lpstr>
      <vt:lpstr>2. 데이터 분석</vt:lpstr>
      <vt:lpstr>2. 데이터 분석</vt:lpstr>
      <vt:lpstr>PowerPoint 프레젠테이션</vt:lpstr>
      <vt:lpstr>2. 데이터 분석</vt:lpstr>
      <vt:lpstr>2. 데이터 분석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강원도 평창군 관광객 데이터 분석</dc:title>
  <dc:creator>ham hyeongbin</dc:creator>
  <cp:lastModifiedBy>ham hyeongbin</cp:lastModifiedBy>
  <cp:revision>12</cp:revision>
  <dcterms:created xsi:type="dcterms:W3CDTF">2022-05-27T14:29:36Z</dcterms:created>
  <dcterms:modified xsi:type="dcterms:W3CDTF">2022-05-30T15:46:32Z</dcterms:modified>
</cp:coreProperties>
</file>